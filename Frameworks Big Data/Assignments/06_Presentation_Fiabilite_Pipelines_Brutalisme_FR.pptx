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Présentation basée sur le document Fiabilité des pipelines Big Data en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Chaque axe répond à une question de fiabilité.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pipeline déplace et transforme les données de façon automatique, comme une chaîne de production. Les 5 V rendent la chaîne exigeante.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étapes avec leurs défaillances typiques ; la fiabilité est le vrai défi en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Séparation entre état persisté et exécution éphémère ; états des tâches Airflow.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Persistance, détection, décision, replanification, propagation.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Backoff exponentiel et jitter ; configuration default_args.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Clear, backfill, repair run ; approches alternatives selon les outils.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Idempotence : au moins une fois + écritures idempotentes = exactement une fois. Résilience de l orchestrateur.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Succès technique différent de succès fonctionnel ; sept dimensions de qualité.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points de contrôle ; outils et quality gates.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Exemple de quality gate Airflow ; indicateurs MTTD, MTTR, data downtime.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Lignage amont pour la cause racine, aval pour l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piliers ; monitoring classique versus observabilité.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Scénario sales_daily ; mise en oeuvre avec Airflow ; limites.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Retries efficaces contre les pannes transitoires ; retry storm 27 appels.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Huit limites et leur parade.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Dead-letter queues, circuit breakers, quarantaine, backfill, alertes SLA.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retries ne sont pas une stratégie de fiabilité en soi.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Références du document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5669280" cy="4572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557784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6F1E7"/>
                </a:solidFill>
                <a:latin typeface="Courier New"/>
              </a:rPr>
              <a:t>[ FRAMEWORKS BIG DATA ]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11274552" cy="32918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4552" cy="3291840"/>
          </a:xfrm>
          <a:prstGeom prst="rect">
            <a:avLst/>
          </a:prstGeom>
          <a:solidFill>
            <a:srgbClr val="F2C14E"/>
          </a:solidFill>
          <a:ln w="762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789920" cy="3017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>
                <a:solidFill>
                  <a:srgbClr val="141414"/>
                </a:solidFill>
                <a:latin typeface="Arial Black"/>
              </a:rPr>
              <a:t>FIABILITÉ DES</a:t>
            </a:r>
          </a:p>
          <a:p>
            <a:pPr algn="l">
              <a:spcAft>
                <a:spcPts val="0"/>
              </a:spcAft>
            </a:pPr>
            <a:r>
              <a:rPr sz="4600" b="1">
                <a:solidFill>
                  <a:srgbClr val="141414"/>
                </a:solidFill>
                <a:latin typeface="Arial Black"/>
              </a:rPr>
              <a:t>PIPELINES BIG DATA</a:t>
            </a:r>
          </a:p>
          <a:p>
            <a:pPr algn="l">
              <a:spcAft>
                <a:spcPts val="0"/>
              </a:spcAft>
            </a:pPr>
            <a:r>
              <a:rPr sz="4600" b="1">
                <a:solidFill>
                  <a:srgbClr val="141414"/>
                </a:solidFill>
                <a:latin typeface="Arial Black"/>
              </a:rPr>
              <a:t>EN PRODUCTION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937759"/>
            <a:ext cx="7498079" cy="10972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4846320"/>
            <a:ext cx="7498079" cy="1097280"/>
          </a:xfrm>
          <a:prstGeom prst="rect">
            <a:avLst/>
          </a:prstGeom>
          <a:solidFill>
            <a:srgbClr val="F6F1E7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919472"/>
            <a:ext cx="7315199" cy="97840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41414"/>
                </a:solidFill>
                <a:latin typeface="Arial"/>
              </a:rPr>
              <a:t>Quatre questions : Récupérer · Prévenir · Diagnostiquer · Compléter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19" y="4937759"/>
            <a:ext cx="3291840" cy="10972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0" y="4846320"/>
            <a:ext cx="3291840" cy="1097280"/>
          </a:xfrm>
          <a:prstGeom prst="rect">
            <a:avLst/>
          </a:prstGeom>
          <a:solidFill>
            <a:srgbClr val="4B55C8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19" y="4919472"/>
            <a:ext cx="3108960" cy="97840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MASTER 2 DATA SCIENCE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Frameworks Big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91440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641348" cy="34747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641348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6F1E7"/>
                </a:solidFill>
                <a:latin typeface="Courier New"/>
              </a:rPr>
              <a:t>[00] SOMMAIRE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31520"/>
            <a:ext cx="113385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41414"/>
                </a:solidFill>
                <a:latin typeface="Arial Black"/>
              </a:rPr>
              <a:t>QUATRE AXES, QUATRE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74552" cy="128016"/>
          </a:xfrm>
          <a:prstGeom prst="rect">
            <a:avLst/>
          </a:prstGeom>
          <a:solidFill>
            <a:srgbClr val="F2C14E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2651760" cy="32918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2651760" cy="3291840"/>
          </a:xfrm>
          <a:prstGeom prst="rect">
            <a:avLst/>
          </a:prstGeom>
          <a:solidFill>
            <a:srgbClr val="F2C14E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246888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4400" b="1">
                <a:solidFill>
                  <a:srgbClr val="141414"/>
                </a:solidFill>
                <a:latin typeface="Arial Black"/>
              </a:rPr>
              <a:t>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2468880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41414"/>
                </a:solidFill>
                <a:latin typeface="Arial Black"/>
              </a:rPr>
              <a:t>RÉCUPÉRER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74720"/>
            <a:ext cx="2468880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41414"/>
                </a:solidFill>
                <a:latin typeface="Arial"/>
              </a:rPr>
              <a:t>Comment les systèmes d'orchestration récupèrent-ils les tâches après une défaillance 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1920240"/>
            <a:ext cx="2651760" cy="32918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828800"/>
            <a:ext cx="2651760" cy="3291840"/>
          </a:xfrm>
          <a:prstGeom prst="rect">
            <a:avLst/>
          </a:prstGeom>
          <a:solidFill>
            <a:srgbClr val="7FCDB5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874519"/>
            <a:ext cx="246888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4400" b="1">
                <a:solidFill>
                  <a:srgbClr val="141414"/>
                </a:solidFill>
                <a:latin typeface="Arial Black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834640"/>
            <a:ext cx="2468880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41414"/>
                </a:solidFill>
                <a:latin typeface="Arial Black"/>
              </a:rPr>
              <a:t>PRÉVENIR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474720"/>
            <a:ext cx="2468880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41414"/>
                </a:solidFill>
                <a:latin typeface="Arial"/>
              </a:rPr>
              <a:t>Surveiller automatiquement la qualité des données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59" y="1920240"/>
            <a:ext cx="2651760" cy="32918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828800"/>
            <a:ext cx="2651760" cy="3291840"/>
          </a:xfrm>
          <a:prstGeom prst="rect">
            <a:avLst/>
          </a:prstGeom>
          <a:solidFill>
            <a:srgbClr val="4B55C8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1874519"/>
            <a:ext cx="246888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4400" b="1">
                <a:solidFill>
                  <a:srgbClr val="FFFFFF"/>
                </a:solidFill>
                <a:latin typeface="Arial Black"/>
              </a:rPr>
              <a:t>Q3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2834640"/>
            <a:ext cx="2468880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 Black"/>
              </a:rPr>
              <a:t>DIAGNOSTIQUER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3474720"/>
            <a:ext cx="2468880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Comment le lignage et l'observabilité facilitent-ils le diagnostic des erreurs 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1920240"/>
            <a:ext cx="2651760" cy="32918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52560" y="1828800"/>
            <a:ext cx="2651760" cy="3291840"/>
          </a:xfrm>
          <a:prstGeom prst="rect">
            <a:avLst/>
          </a:prstGeom>
          <a:solidFill>
            <a:srgbClr val="EF7B63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1874519"/>
            <a:ext cx="246888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4400" b="1">
                <a:solidFill>
                  <a:srgbClr val="141414"/>
                </a:solidFill>
                <a:latin typeface="Arial Black"/>
              </a:rPr>
              <a:t>Q4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834640"/>
            <a:ext cx="2468880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41414"/>
                </a:solidFill>
                <a:latin typeface="Arial Black"/>
              </a:rPr>
              <a:t>COMPLÉTER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474720"/>
            <a:ext cx="2468880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41414"/>
                </a:solidFill>
                <a:latin typeface="Arial"/>
              </a:rPr>
              <a:t>Quelles sont les limites des mécanismes de retries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486400"/>
            <a:ext cx="11064240" cy="82296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394960"/>
            <a:ext cx="11064240" cy="822960"/>
          </a:xfrm>
          <a:prstGeom prst="rect">
            <a:avLst/>
          </a:prstGeom>
          <a:solidFill>
            <a:srgbClr val="141414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468112"/>
            <a:ext cx="10881360" cy="70408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25" b="0">
                <a:solidFill>
                  <a:srgbClr val="F2C14E"/>
                </a:solidFill>
                <a:latin typeface="Arial"/>
              </a:rPr>
              <a:t>Contexte : définition du pipeline, étapes, défi de la fiabilité — puis les 4 axes — puis synthèse.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510528"/>
            <a:ext cx="731520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6F1E7"/>
                </a:solidFill>
                <a:latin typeface="Courier New"/>
              </a:rPr>
              <a:t>FIABILITÉ DES PIPELINES BIG DATA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607040" y="6510528"/>
            <a:ext cx="1280160" cy="34747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07040" y="6510528"/>
            <a:ext cx="128016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41414"/>
                </a:solidFill>
                <a:latin typeface="Courier New"/>
              </a:rPr>
              <a:t>02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91440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536192" cy="34747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536192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6F1E7"/>
                </a:solidFill>
                <a:latin typeface="Courier New"/>
              </a:rPr>
              <a:t>[1] CONTEXTE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31520"/>
            <a:ext cx="113385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41414"/>
                </a:solidFill>
                <a:latin typeface="Arial Black"/>
              </a:rPr>
              <a:t>QU'EST-CE QU'UN PIPELINE DE DONNÉES 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74552" cy="128016"/>
          </a:xfrm>
          <a:prstGeom prst="rect">
            <a:avLst/>
          </a:prstGeom>
          <a:solidFill>
            <a:srgbClr val="F2C14E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5486400" cy="2286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486400" cy="2286000"/>
          </a:xfrm>
          <a:prstGeom prst="rect">
            <a:avLst/>
          </a:prstGeom>
          <a:solidFill>
            <a:srgbClr val="F6F1E7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01952"/>
            <a:ext cx="530352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20" b="1">
                <a:solidFill>
                  <a:srgbClr val="141414"/>
                </a:solidFill>
                <a:latin typeface="Arial Black"/>
              </a:rPr>
              <a:t>SÉQUENCE AUTOMATISÉE D'ÉTAPES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13432"/>
            <a:ext cx="5303520" cy="175564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75" b="0">
                <a:solidFill>
                  <a:srgbClr val="141414"/>
                </a:solidFill>
                <a:latin typeface="Arial"/>
              </a:rPr>
              <a:t>Déplace des données de </a:t>
            </a:r>
            <a:r>
              <a:rPr sz="1375" b="1">
                <a:solidFill>
                  <a:srgbClr val="141414"/>
                </a:solidFill>
                <a:latin typeface="Arial"/>
              </a:rPr>
              <a:t>sources</a:t>
            </a:r>
            <a:r>
              <a:rPr sz="1375" b="0">
                <a:solidFill>
                  <a:srgbClr val="141414"/>
                </a:solidFill>
                <a:latin typeface="Arial"/>
              </a:rPr>
              <a:t> vers une </a:t>
            </a:r>
            <a:r>
              <a:rPr sz="1375" b="1">
                <a:solidFill>
                  <a:srgbClr val="141414"/>
                </a:solidFill>
                <a:latin typeface="Arial"/>
              </a:rPr>
              <a:t>destination</a:t>
            </a:r>
            <a:r>
              <a:rPr sz="1375" b="0">
                <a:solidFill>
                  <a:srgbClr val="141414"/>
                </a:solidFill>
                <a:latin typeface="Arial"/>
              </a:rPr>
              <a:t> en les transformant pour l'analyse, le reporting ou le ML.</a:t>
            </a:r>
          </a:p>
          <a:p>
            <a:pPr algn="l">
              <a:spcAft>
                <a:spcPts val="300"/>
              </a:spcAft>
            </a:pPr>
            <a:r>
              <a:rPr sz="1375" b="0">
                <a:solidFill>
                  <a:srgbClr val="141414"/>
                </a:solidFill>
                <a:latin typeface="Arial"/>
              </a:rPr>
              <a:t>Comme une </a:t>
            </a:r>
            <a:r>
              <a:rPr sz="1375" b="1">
                <a:solidFill>
                  <a:srgbClr val="141414"/>
                </a:solidFill>
                <a:latin typeface="Arial"/>
              </a:rPr>
              <a:t>chaîne de production</a:t>
            </a:r>
            <a:r>
              <a:rPr sz="1375" b="0">
                <a:solidFill>
                  <a:srgbClr val="141414"/>
                </a:solidFill>
                <a:latin typeface="Arial"/>
              </a:rPr>
              <a:t> : une défaillance se répercute sur tout l'aval.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194560"/>
            <a:ext cx="1188720" cy="9144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2103120"/>
            <a:ext cx="1188720" cy="914400"/>
          </a:xfrm>
          <a:prstGeom prst="rect">
            <a:avLst/>
          </a:prstGeom>
          <a:solidFill>
            <a:srgbClr val="F2C14E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103120"/>
            <a:ext cx="118872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41414"/>
                </a:solidFill>
                <a:latin typeface="Arial Black"/>
              </a:rPr>
              <a:t>SOURCE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2194560"/>
            <a:ext cx="1188720" cy="9144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2103120"/>
            <a:ext cx="1188720" cy="914400"/>
          </a:xfrm>
          <a:prstGeom prst="rect">
            <a:avLst/>
          </a:prstGeom>
          <a:solidFill>
            <a:srgbClr val="EF7B63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2103120"/>
            <a:ext cx="118872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41414"/>
                </a:solidFill>
                <a:latin typeface="Arial Black"/>
              </a:rPr>
              <a:t>COLLECTE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2194560"/>
            <a:ext cx="1188720" cy="9144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52560" y="2103120"/>
            <a:ext cx="1188720" cy="914400"/>
          </a:xfrm>
          <a:prstGeom prst="rect">
            <a:avLst/>
          </a:prstGeom>
          <a:solidFill>
            <a:srgbClr val="4B55C8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2103120"/>
            <a:ext cx="118872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 Black"/>
              </a:rPr>
              <a:t>TRANSFO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0" y="2194560"/>
            <a:ext cx="1188720" cy="9144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424160" y="2103120"/>
            <a:ext cx="1188720" cy="914400"/>
          </a:xfrm>
          <a:prstGeom prst="rect">
            <a:avLst/>
          </a:prstGeom>
          <a:solidFill>
            <a:srgbClr val="7FCDB5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24160" y="2103120"/>
            <a:ext cx="118872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41414"/>
                </a:solidFill>
                <a:latin typeface="Arial Black"/>
              </a:rPr>
              <a:t>LIVRAISON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200400"/>
            <a:ext cx="530352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41414"/>
                </a:solidFill>
                <a:latin typeface="Arial"/>
              </a:rPr>
              <a:t>Chaque maillon reçoit, transforme, transmet.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51960"/>
            <a:ext cx="731520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41414"/>
                </a:solidFill>
                <a:latin typeface="Courier New"/>
              </a:rPr>
              <a:t>&gt; LES 5 « V » DU BIG 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709159"/>
            <a:ext cx="2057400" cy="16459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617720"/>
            <a:ext cx="2057400" cy="1645920"/>
          </a:xfrm>
          <a:prstGeom prst="rect">
            <a:avLst/>
          </a:prstGeom>
          <a:solidFill>
            <a:srgbClr val="F2C14E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690872"/>
            <a:ext cx="187451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10" b="1">
                <a:solidFill>
                  <a:srgbClr val="141414"/>
                </a:solidFill>
                <a:latin typeface="Arial Black"/>
              </a:rPr>
              <a:t>VOLUME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102352"/>
            <a:ext cx="1874519" cy="111556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To / Po : moteurs distribués, recalcul coûteux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80360" y="4709159"/>
            <a:ext cx="2057400" cy="16459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88920" y="4617720"/>
            <a:ext cx="2057400" cy="1645920"/>
          </a:xfrm>
          <a:prstGeom prst="rect">
            <a:avLst/>
          </a:prstGeom>
          <a:solidFill>
            <a:srgbClr val="EF7B63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80360" y="4690872"/>
            <a:ext cx="187451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10" b="1">
                <a:solidFill>
                  <a:srgbClr val="141414"/>
                </a:solidFill>
                <a:latin typeface="Arial Black"/>
              </a:rPr>
              <a:t>VÉLOCITÉ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80360" y="5102352"/>
            <a:ext cx="1874519" cy="111556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Flux continus, faible latence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20640" y="4709159"/>
            <a:ext cx="2057400" cy="16459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0" y="4617720"/>
            <a:ext cx="2057400" cy="1645920"/>
          </a:xfrm>
          <a:prstGeom prst="rect">
            <a:avLst/>
          </a:prstGeom>
          <a:solidFill>
            <a:srgbClr val="4B55C8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0640" y="4690872"/>
            <a:ext cx="187451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10" b="1">
                <a:solidFill>
                  <a:srgbClr val="FFFFFF"/>
                </a:solidFill>
                <a:latin typeface="Arial Black"/>
              </a:rPr>
              <a:t>VARIÉTÉ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5102352"/>
            <a:ext cx="1874519" cy="111556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Formats et schémas qui évoluent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60920" y="4709159"/>
            <a:ext cx="2057400" cy="16459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269480" y="4617720"/>
            <a:ext cx="2057400" cy="1645920"/>
          </a:xfrm>
          <a:prstGeom prst="rect">
            <a:avLst/>
          </a:prstGeom>
          <a:solidFill>
            <a:srgbClr val="7FCDB5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60920" y="4690872"/>
            <a:ext cx="187451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10" b="1">
                <a:solidFill>
                  <a:srgbClr val="141414"/>
                </a:solidFill>
                <a:latin typeface="Arial Black"/>
              </a:rPr>
              <a:t>VÉRACITÉ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60920" y="5102352"/>
            <a:ext cx="1874519" cy="111556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Données incomplètes ou erronées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01200" y="4709159"/>
            <a:ext cx="2057400" cy="16459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509760" y="4617720"/>
            <a:ext cx="2057400" cy="1645920"/>
          </a:xfrm>
          <a:prstGeom prst="rect">
            <a:avLst/>
          </a:prstGeom>
          <a:solidFill>
            <a:srgbClr val="F2C14E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0" y="4690872"/>
            <a:ext cx="187451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10" b="1">
                <a:solidFill>
                  <a:srgbClr val="141414"/>
                </a:solidFill>
                <a:latin typeface="Arial Black"/>
              </a:rPr>
              <a:t>VALEUR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5102352"/>
            <a:ext cx="1874519" cy="111556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Seules des données correctes valent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6510528"/>
            <a:ext cx="731520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6F1E7"/>
                </a:solidFill>
                <a:latin typeface="Courier New"/>
              </a:rPr>
              <a:t>FIABILITÉ DES PIPELINES BIG DATA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607040" y="6510528"/>
            <a:ext cx="1280160" cy="34747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607040" y="6510528"/>
            <a:ext cx="128016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41414"/>
                </a:solidFill>
                <a:latin typeface="Courier New"/>
              </a:rPr>
              <a:t>03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91440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536192" cy="34747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536192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6F1E7"/>
                </a:solidFill>
                <a:latin typeface="Courier New"/>
              </a:rPr>
              <a:t>[1] CONTEXTE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31520"/>
            <a:ext cx="113385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41414"/>
                </a:solidFill>
                <a:latin typeface="Arial Black"/>
              </a:rPr>
              <a:t>LES 5 ÉTAPES ET LE DÉFI DE LA FIABILITÉ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74552" cy="128016"/>
          </a:xfrm>
          <a:prstGeom prst="rect">
            <a:avLst/>
          </a:prstGeom>
          <a:solidFill>
            <a:srgbClr val="F2C14E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920240"/>
            <a:ext cx="2103120" cy="15544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2103120" cy="1554480"/>
          </a:xfrm>
          <a:prstGeom prst="rect">
            <a:avLst/>
          </a:prstGeom>
          <a:solidFill>
            <a:srgbClr val="F2C14E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1952"/>
            <a:ext cx="192023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10" b="1">
                <a:solidFill>
                  <a:srgbClr val="141414"/>
                </a:solidFill>
                <a:latin typeface="Arial Black"/>
              </a:rPr>
              <a:t>INGESTION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1920239" cy="102412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41414"/>
                </a:solidFill>
                <a:latin typeface="Arial"/>
              </a:rPr>
              <a:t>Kafka, Airbyte, Debezium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611880"/>
            <a:ext cx="2103120" cy="10058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520440"/>
            <a:ext cx="2103120" cy="1005840"/>
          </a:xfrm>
          <a:prstGeom prst="rect">
            <a:avLst/>
          </a:prstGeom>
          <a:solidFill>
            <a:srgbClr val="EF7B63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593592"/>
            <a:ext cx="1920239" cy="88696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25" b="1">
                <a:solidFill>
                  <a:srgbClr val="141414"/>
                </a:solidFill>
                <a:latin typeface="Arial"/>
              </a:rPr>
              <a:t>Défaillance :</a:t>
            </a:r>
            <a:r>
              <a:rPr sz="1125" b="0">
                <a:solidFill>
                  <a:srgbClr val="141414"/>
                </a:solidFill>
                <a:latin typeface="Arial"/>
              </a:rPr>
              <a:t> Source indisponible, schéma modifié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0360" y="1920240"/>
            <a:ext cx="2103120" cy="15544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88920" y="1828800"/>
            <a:ext cx="2103120" cy="1554480"/>
          </a:xfrm>
          <a:prstGeom prst="rect">
            <a:avLst/>
          </a:prstGeom>
          <a:solidFill>
            <a:srgbClr val="7FCDB5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360" y="1901952"/>
            <a:ext cx="192023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10" b="1">
                <a:solidFill>
                  <a:srgbClr val="141414"/>
                </a:solidFill>
                <a:latin typeface="Arial Black"/>
              </a:rPr>
              <a:t>TRAITEMENT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2313432"/>
            <a:ext cx="1920239" cy="102412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41414"/>
                </a:solidFill>
                <a:latin typeface="Arial"/>
              </a:rPr>
              <a:t>Spark, Flink, dbt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80360" y="3611880"/>
            <a:ext cx="2103120" cy="10058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88920" y="3520440"/>
            <a:ext cx="2103120" cy="1005840"/>
          </a:xfrm>
          <a:prstGeom prst="rect">
            <a:avLst/>
          </a:prstGeom>
          <a:solidFill>
            <a:srgbClr val="EF7B63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3593592"/>
            <a:ext cx="1920239" cy="88696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25" b="1">
                <a:solidFill>
                  <a:srgbClr val="141414"/>
                </a:solidFill>
                <a:latin typeface="Arial"/>
              </a:rPr>
              <a:t>Défaillance :</a:t>
            </a:r>
            <a:r>
              <a:rPr sz="1125" b="0">
                <a:solidFill>
                  <a:srgbClr val="141414"/>
                </a:solidFill>
                <a:latin typeface="Arial"/>
              </a:rPr>
              <a:t> OOM, skew, bug de logique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66359" y="1920240"/>
            <a:ext cx="2103120" cy="15544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74920" y="1828800"/>
            <a:ext cx="2103120" cy="1554480"/>
          </a:xfrm>
          <a:prstGeom prst="rect">
            <a:avLst/>
          </a:prstGeom>
          <a:solidFill>
            <a:srgbClr val="4B55C8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6359" y="1901952"/>
            <a:ext cx="192023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10" b="1">
                <a:solidFill>
                  <a:srgbClr val="FFFFFF"/>
                </a:solidFill>
                <a:latin typeface="Arial Black"/>
              </a:rPr>
              <a:t>STOCKAGE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59" y="2313432"/>
            <a:ext cx="1920239" cy="102412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Delta, Iceberg, Hudi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66359" y="3611880"/>
            <a:ext cx="2103120" cy="10058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74920" y="3520440"/>
            <a:ext cx="2103120" cy="1005840"/>
          </a:xfrm>
          <a:prstGeom prst="rect">
            <a:avLst/>
          </a:prstGeom>
          <a:solidFill>
            <a:srgbClr val="EF7B63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66359" y="3593592"/>
            <a:ext cx="1920239" cy="88696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25" b="1">
                <a:solidFill>
                  <a:srgbClr val="141414"/>
                </a:solidFill>
                <a:latin typeface="Arial"/>
              </a:rPr>
              <a:t>Défaillance :</a:t>
            </a:r>
            <a:r>
              <a:rPr sz="1125" b="0">
                <a:solidFill>
                  <a:srgbClr val="141414"/>
                </a:solidFill>
                <a:latin typeface="Arial"/>
              </a:rPr>
              <a:t> Écritures partielles, doublons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52360" y="1920240"/>
            <a:ext cx="2103120" cy="15544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60920" y="1828800"/>
            <a:ext cx="2103120" cy="1554480"/>
          </a:xfrm>
          <a:prstGeom prst="rect">
            <a:avLst/>
          </a:prstGeom>
          <a:solidFill>
            <a:srgbClr val="F2C14E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2360" y="1901952"/>
            <a:ext cx="192023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10" b="1">
                <a:solidFill>
                  <a:srgbClr val="141414"/>
                </a:solidFill>
                <a:latin typeface="Arial Black"/>
              </a:rPr>
              <a:t>EXPOSITION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2313432"/>
            <a:ext cx="1920239" cy="102412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41414"/>
                </a:solidFill>
                <a:latin typeface="Arial"/>
              </a:rPr>
              <a:t>BI, API, feature stores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52360" y="3611880"/>
            <a:ext cx="2103120" cy="10058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60920" y="3520440"/>
            <a:ext cx="2103120" cy="1005840"/>
          </a:xfrm>
          <a:prstGeom prst="rect">
            <a:avLst/>
          </a:prstGeom>
          <a:solidFill>
            <a:srgbClr val="EF7B63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52360" y="3593592"/>
            <a:ext cx="1920239" cy="88696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25" b="1">
                <a:solidFill>
                  <a:srgbClr val="141414"/>
                </a:solidFill>
                <a:latin typeface="Arial"/>
              </a:rPr>
              <a:t>Défaillance :</a:t>
            </a:r>
            <a:r>
              <a:rPr sz="1125" b="0">
                <a:solidFill>
                  <a:srgbClr val="141414"/>
                </a:solidFill>
                <a:latin typeface="Arial"/>
              </a:rPr>
              <a:t> Chiffres erronés, données périmées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38360" y="1920240"/>
            <a:ext cx="2103120" cy="15544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46920" y="1828800"/>
            <a:ext cx="2103120" cy="1554480"/>
          </a:xfrm>
          <a:prstGeom prst="rect">
            <a:avLst/>
          </a:prstGeom>
          <a:solidFill>
            <a:srgbClr val="7FCDB5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38360" y="1901952"/>
            <a:ext cx="192023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10" b="1">
                <a:solidFill>
                  <a:srgbClr val="141414"/>
                </a:solidFill>
                <a:latin typeface="Arial Black"/>
              </a:rPr>
              <a:t>ORCHESTRATION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38360" y="2313432"/>
            <a:ext cx="1920239" cy="102412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41414"/>
                </a:solidFill>
                <a:latin typeface="Arial"/>
              </a:rPr>
              <a:t>Airflow, Dagster, Temporal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38360" y="3611880"/>
            <a:ext cx="2103120" cy="10058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46920" y="3520440"/>
            <a:ext cx="2103120" cy="1005840"/>
          </a:xfrm>
          <a:prstGeom prst="rect">
            <a:avLst/>
          </a:prstGeom>
          <a:solidFill>
            <a:srgbClr val="EF7B63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38360" y="3593592"/>
            <a:ext cx="1920239" cy="88696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25" b="1">
                <a:solidFill>
                  <a:srgbClr val="141414"/>
                </a:solidFill>
                <a:latin typeface="Arial"/>
              </a:rPr>
              <a:t>Défaillance :</a:t>
            </a:r>
            <a:r>
              <a:rPr sz="1125" b="0">
                <a:solidFill>
                  <a:srgbClr val="141414"/>
                </a:solidFill>
                <a:latin typeface="Arial"/>
              </a:rPr>
              <a:t> Scheduler arrêté, tâche zombie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4846320"/>
            <a:ext cx="11064240" cy="14630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8640" y="4754880"/>
            <a:ext cx="11064240" cy="1463040"/>
          </a:xfrm>
          <a:prstGeom prst="rect">
            <a:avLst/>
          </a:prstGeom>
          <a:solidFill>
            <a:srgbClr val="141414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828032"/>
            <a:ext cx="1088136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10" b="1">
                <a:solidFill>
                  <a:srgbClr val="F2C14E"/>
                </a:solidFill>
                <a:latin typeface="Arial Black"/>
              </a:rPr>
              <a:t>UN PIPELINE FIABLE LIVRE DES DONNÉES CORRECTES, COMPLÈTES, À L'HEURE (SLA) ET RÉPÉTABLES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5239512"/>
            <a:ext cx="10881360" cy="93268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75" b="0">
                <a:solidFill>
                  <a:srgbClr val="F6F1E7"/>
                </a:solidFill>
                <a:latin typeface="Arial"/>
              </a:rPr>
              <a:t>Sources de défaillance : </a:t>
            </a:r>
            <a:r>
              <a:rPr sz="1375" b="1">
                <a:solidFill>
                  <a:srgbClr val="F6F1E7"/>
                </a:solidFill>
                <a:latin typeface="Arial"/>
              </a:rPr>
              <a:t>infrastructure · logiciel · données · organisation</a:t>
            </a:r>
            <a:r>
              <a:rPr sz="1375" b="0">
                <a:solidFill>
                  <a:srgbClr val="F6F1E7"/>
                </a:solidFill>
                <a:latin typeface="Arial"/>
              </a:rPr>
              <a:t>. D'où quatre réponses complémentaires : récupérer, prévenir, diagnostiquer, compléter.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6510528"/>
            <a:ext cx="731520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6F1E7"/>
                </a:solidFill>
                <a:latin typeface="Courier New"/>
              </a:rPr>
              <a:t>FIABILITÉ DES PIPELINES BIG DATA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607040" y="6510528"/>
            <a:ext cx="1280160" cy="34747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607040" y="6510528"/>
            <a:ext cx="128016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41414"/>
                </a:solidFill>
                <a:latin typeface="Courier New"/>
              </a:rPr>
              <a:t>04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91440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746504" cy="34747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746504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6F1E7"/>
                </a:solidFill>
                <a:latin typeface="Courier New"/>
              </a:rPr>
              <a:t>Q1 · RÉCUPÉRER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31520"/>
            <a:ext cx="113385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41414"/>
                </a:solidFill>
                <a:latin typeface="Arial Black"/>
              </a:rPr>
              <a:t>COMMENT LES ORCHESTRATEURS RÉCUPÈRENT-ILS LES TÂCHES 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74552" cy="128016"/>
          </a:xfrm>
          <a:prstGeom prst="rect">
            <a:avLst/>
          </a:prstGeom>
          <a:solidFill>
            <a:srgbClr val="F2C14E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3474720" cy="15544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3474720" cy="1554480"/>
          </a:xfrm>
          <a:prstGeom prst="rect">
            <a:avLst/>
          </a:prstGeom>
          <a:solidFill>
            <a:srgbClr val="7FCDB5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01952"/>
            <a:ext cx="329183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20" b="1">
                <a:solidFill>
                  <a:srgbClr val="141414"/>
                </a:solidFill>
                <a:latin typeface="Arial Black"/>
              </a:rPr>
              <a:t>ÉTAT (PERSISTÉ)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13432"/>
            <a:ext cx="3291839" cy="102412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75" b="0">
                <a:solidFill>
                  <a:srgbClr val="141414"/>
                </a:solidFill>
                <a:latin typeface="Arial"/>
              </a:rPr>
              <a:t>Base de métadonnées durable : l'état de chaque tâche y est enregistré.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286000"/>
            <a:ext cx="731520" cy="731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3600" b="1">
                <a:solidFill>
                  <a:srgbClr val="141414"/>
                </a:solidFill>
                <a:latin typeface="Arial Black"/>
              </a:rPr>
              <a:t>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1920240"/>
            <a:ext cx="3474720" cy="15544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0" y="1828800"/>
            <a:ext cx="3474720" cy="1554480"/>
          </a:xfrm>
          <a:prstGeom prst="rect">
            <a:avLst/>
          </a:prstGeom>
          <a:solidFill>
            <a:srgbClr val="EF7B63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1901952"/>
            <a:ext cx="329183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20" b="1">
                <a:solidFill>
                  <a:srgbClr val="141414"/>
                </a:solidFill>
                <a:latin typeface="Arial Black"/>
              </a:rPr>
              <a:t>EXÉCUTION (ÉPHÉMÈRE)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313432"/>
            <a:ext cx="3291839" cy="102412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75" b="0">
                <a:solidFill>
                  <a:srgbClr val="141414"/>
                </a:solidFill>
                <a:latin typeface="Arial"/>
              </a:rPr>
              <a:t>Workers et pods peuvent disparaître à tout moment.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95360" y="1920240"/>
            <a:ext cx="3200400" cy="15544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0" y="1828800"/>
            <a:ext cx="3200400" cy="1554480"/>
          </a:xfrm>
          <a:prstGeom prst="rect">
            <a:avLst/>
          </a:prstGeom>
          <a:solidFill>
            <a:srgbClr val="141414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1901952"/>
            <a:ext cx="3017520" cy="143560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F2C14E"/>
                </a:solidFill>
                <a:latin typeface="Arial"/>
              </a:rPr>
              <a:t>Modèle </a:t>
            </a:r>
            <a:r>
              <a:rPr sz="1250" b="1">
                <a:solidFill>
                  <a:srgbClr val="F2C14E"/>
                </a:solidFill>
                <a:latin typeface="Arial"/>
              </a:rPr>
              <a:t>DAG</a:t>
            </a:r>
            <a:r>
              <a:rPr sz="1250" b="0">
                <a:solidFill>
                  <a:srgbClr val="F2C14E"/>
                </a:solidFill>
                <a:latin typeface="Arial"/>
              </a:rPr>
              <a:t> : nœud = tâche avec état, arête = dépendance. Reprise = rejouer les nœuds non réussis et leurs descendants.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749039"/>
            <a:ext cx="2651760" cy="1143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657600"/>
            <a:ext cx="2651760" cy="1143000"/>
          </a:xfrm>
          <a:prstGeom prst="rect">
            <a:avLst/>
          </a:prstGeom>
          <a:solidFill>
            <a:srgbClr val="F6F1E7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749039"/>
            <a:ext cx="246888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41414"/>
                </a:solidFill>
                <a:latin typeface="Courier New"/>
              </a:rPr>
              <a:t>scheduled / queued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160520"/>
            <a:ext cx="2468880" cy="6400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Arial"/>
              </a:rPr>
              <a:t>Prête, attend un worker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3749039"/>
            <a:ext cx="2651760" cy="1143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83280" y="3657600"/>
            <a:ext cx="2651760" cy="1143000"/>
          </a:xfrm>
          <a:prstGeom prst="rect">
            <a:avLst/>
          </a:prstGeom>
          <a:solidFill>
            <a:srgbClr val="4B55C8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3749039"/>
            <a:ext cx="246888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Courier New"/>
              </a:rPr>
              <a:t>running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160520"/>
            <a:ext cx="2468880" cy="6400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Exécution + heartbeat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59" y="3749039"/>
            <a:ext cx="2651760" cy="1143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3657600"/>
            <a:ext cx="2651760" cy="1143000"/>
          </a:xfrm>
          <a:prstGeom prst="rect">
            <a:avLst/>
          </a:prstGeom>
          <a:solidFill>
            <a:srgbClr val="7FCDB5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59" y="3749039"/>
            <a:ext cx="246888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41414"/>
                </a:solidFill>
                <a:latin typeface="Courier New"/>
              </a:rPr>
              <a:t>success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59" y="4160520"/>
            <a:ext cx="2468880" cy="6400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Arial"/>
              </a:rPr>
              <a:t>Terminée sans erreur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3749039"/>
            <a:ext cx="2651760" cy="1143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52560" y="3657600"/>
            <a:ext cx="2651760" cy="1143000"/>
          </a:xfrm>
          <a:prstGeom prst="rect">
            <a:avLst/>
          </a:prstGeom>
          <a:solidFill>
            <a:srgbClr val="EF7B63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0" y="3749039"/>
            <a:ext cx="246888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41414"/>
                </a:solidFill>
                <a:latin typeface="Courier New"/>
              </a:rPr>
              <a:t>failed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4160520"/>
            <a:ext cx="2468880" cy="6400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Arial"/>
              </a:rPr>
              <a:t>Échec définitif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074920"/>
            <a:ext cx="2651760" cy="1143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4983480"/>
            <a:ext cx="2651760" cy="1143000"/>
          </a:xfrm>
          <a:prstGeom prst="rect">
            <a:avLst/>
          </a:prstGeom>
          <a:solidFill>
            <a:srgbClr val="F2C14E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074920"/>
            <a:ext cx="246888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41414"/>
                </a:solidFill>
                <a:latin typeface="Courier New"/>
              </a:rPr>
              <a:t>up_for_retry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486400"/>
            <a:ext cx="2468880" cy="6400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Arial"/>
              </a:rPr>
              <a:t>Échec, tentatives restantes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0" y="5074920"/>
            <a:ext cx="2651760" cy="1143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383280" y="4983480"/>
            <a:ext cx="2651760" cy="1143000"/>
          </a:xfrm>
          <a:prstGeom prst="rect">
            <a:avLst/>
          </a:prstGeom>
          <a:solidFill>
            <a:srgbClr val="EF7B63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4720" y="5074920"/>
            <a:ext cx="246888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41414"/>
                </a:solidFill>
                <a:latin typeface="Courier New"/>
              </a:rPr>
              <a:t>upstream_failed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5486400"/>
            <a:ext cx="2468880" cy="6400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Arial"/>
              </a:rPr>
              <a:t>Dépendance échouée : non exécutée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59" y="5074920"/>
            <a:ext cx="2651760" cy="1143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17920" y="4983480"/>
            <a:ext cx="2651760" cy="1143000"/>
          </a:xfrm>
          <a:prstGeom prst="rect">
            <a:avLst/>
          </a:prstGeom>
          <a:solidFill>
            <a:srgbClr val="F6F1E7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59" y="5074920"/>
            <a:ext cx="246888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41414"/>
                </a:solidFill>
                <a:latin typeface="Courier New"/>
              </a:rPr>
              <a:t>skipped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59" y="5486400"/>
            <a:ext cx="2468880" cy="6400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Arial"/>
              </a:rPr>
              <a:t>Ignorée volontairement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510528"/>
            <a:ext cx="731520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6F1E7"/>
                </a:solidFill>
                <a:latin typeface="Courier New"/>
              </a:rPr>
              <a:t>FIABILITÉ DES PIPELINES BIG DATA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607040" y="6510528"/>
            <a:ext cx="1280160" cy="34747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607040" y="6510528"/>
            <a:ext cx="128016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41414"/>
                </a:solidFill>
                <a:latin typeface="Courier New"/>
              </a:rPr>
              <a:t>05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91440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746504" cy="34747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746504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6F1E7"/>
                </a:solidFill>
                <a:latin typeface="Courier New"/>
              </a:rPr>
              <a:t>Q1 · RÉCUPÉRER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31520"/>
            <a:ext cx="113385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41414"/>
                </a:solidFill>
                <a:latin typeface="Arial Black"/>
              </a:rPr>
              <a:t>LES 5 ÉTAPES DE LA REPRISE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74552" cy="128016"/>
          </a:xfrm>
          <a:prstGeom prst="rect">
            <a:avLst/>
          </a:prstGeom>
          <a:solidFill>
            <a:srgbClr val="F2C14E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920240"/>
            <a:ext cx="2103120" cy="27432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2103120" cy="2743200"/>
          </a:xfrm>
          <a:prstGeom prst="rect">
            <a:avLst/>
          </a:prstGeom>
          <a:solidFill>
            <a:srgbClr val="F2C14E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914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4000" b="1">
                <a:solidFill>
                  <a:srgbClr val="141414"/>
                </a:solidFill>
                <a:latin typeface="Arial Black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06040"/>
            <a:ext cx="1920240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41414"/>
                </a:solidFill>
                <a:latin typeface="Arial Black"/>
              </a:rPr>
              <a:t>PERSISTANCE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08960"/>
            <a:ext cx="1920240" cy="1463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41414"/>
                </a:solidFill>
                <a:latin typeface="Arial"/>
              </a:rPr>
              <a:t>Chaque transition d'état écrite en base : journal de référence.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1920240"/>
            <a:ext cx="2103120" cy="27432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88920" y="1828800"/>
            <a:ext cx="2103120" cy="2743200"/>
          </a:xfrm>
          <a:prstGeom prst="rect">
            <a:avLst/>
          </a:prstGeom>
          <a:solidFill>
            <a:srgbClr val="EF7B63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39" y="1828800"/>
            <a:ext cx="914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4000" b="1">
                <a:solidFill>
                  <a:srgbClr val="141414"/>
                </a:solidFill>
                <a:latin typeface="Arial Black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606040"/>
            <a:ext cx="1920240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41414"/>
                </a:solidFill>
                <a:latin typeface="Arial Black"/>
              </a:rPr>
              <a:t>DÉTECTION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108960"/>
            <a:ext cx="1920240" cy="1463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41414"/>
                </a:solidFill>
                <a:latin typeface="Arial"/>
              </a:rPr>
              <a:t>Échec explicite, absence de heartbeat (zombie), timeout.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66359" y="1920240"/>
            <a:ext cx="2103120" cy="27432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74920" y="1828800"/>
            <a:ext cx="2103120" cy="2743200"/>
          </a:xfrm>
          <a:prstGeom prst="rect">
            <a:avLst/>
          </a:prstGeom>
          <a:solidFill>
            <a:srgbClr val="4B55C8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1828800"/>
            <a:ext cx="914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4000" b="1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59" y="2606040"/>
            <a:ext cx="1920240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 Black"/>
              </a:rPr>
              <a:t>DÉCISION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59" y="3108960"/>
            <a:ext cx="1920240" cy="1463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Tentatives, délai, backoff exponentiel + jitter.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1920240"/>
            <a:ext cx="2103120" cy="27432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60920" y="1828800"/>
            <a:ext cx="2103120" cy="2743200"/>
          </a:xfrm>
          <a:prstGeom prst="rect">
            <a:avLst/>
          </a:prstGeom>
          <a:solidFill>
            <a:srgbClr val="7FCDB5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1828800"/>
            <a:ext cx="914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4000" b="1">
                <a:solidFill>
                  <a:srgbClr val="141414"/>
                </a:solidFill>
                <a:latin typeface="Arial Black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2606040"/>
            <a:ext cx="1920240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41414"/>
                </a:solidFill>
                <a:latin typeface="Arial Black"/>
              </a:rPr>
              <a:t>REPLANIFICATION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3108960"/>
            <a:ext cx="1920240" cy="1463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41414"/>
                </a:solidFill>
                <a:latin typeface="Arial"/>
              </a:rPr>
              <a:t>File d'attente, autre worker possible.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38360" y="1920240"/>
            <a:ext cx="2103120" cy="27432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46920" y="1828800"/>
            <a:ext cx="2103120" cy="2743200"/>
          </a:xfrm>
          <a:prstGeom prst="rect">
            <a:avLst/>
          </a:prstGeom>
          <a:solidFill>
            <a:srgbClr val="F2C14E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0" y="1828800"/>
            <a:ext cx="914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4000" b="1">
                <a:solidFill>
                  <a:srgbClr val="141414"/>
                </a:solidFill>
                <a:latin typeface="Arial Black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8360" y="2606040"/>
            <a:ext cx="1920240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41414"/>
                </a:solidFill>
                <a:latin typeface="Arial Black"/>
              </a:rPr>
              <a:t>PROPAGATION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360" y="3108960"/>
            <a:ext cx="1920240" cy="1463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41414"/>
                </a:solidFill>
                <a:latin typeface="Arial"/>
              </a:rPr>
              <a:t>Dépendantes attendent ; échec final = upstream_failed.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937759"/>
            <a:ext cx="3657600" cy="13716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846320"/>
            <a:ext cx="3657600" cy="1371600"/>
          </a:xfrm>
          <a:prstGeom prst="rect">
            <a:avLst/>
          </a:prstGeom>
          <a:solidFill>
            <a:srgbClr val="F6F1E7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919472"/>
            <a:ext cx="347472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10" b="1">
                <a:solidFill>
                  <a:srgbClr val="141414"/>
                </a:solidFill>
                <a:latin typeface="Arial Black"/>
              </a:rPr>
              <a:t>ÉCHEC EXPLICITE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330952"/>
            <a:ext cx="3474720" cy="84124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75" b="0">
                <a:solidFill>
                  <a:srgbClr val="141414"/>
                </a:solidFill>
                <a:latin typeface="Arial"/>
              </a:rPr>
              <a:t>Exception ou code de sortie non nul.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80559" y="4937759"/>
            <a:ext cx="3657600" cy="13716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89120" y="4846320"/>
            <a:ext cx="3657600" cy="1371600"/>
          </a:xfrm>
          <a:prstGeom prst="rect">
            <a:avLst/>
          </a:prstGeom>
          <a:solidFill>
            <a:srgbClr val="F6F1E7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80559" y="4919472"/>
            <a:ext cx="347472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10" b="1">
                <a:solidFill>
                  <a:srgbClr val="141414"/>
                </a:solidFill>
                <a:latin typeface="Arial Black"/>
              </a:rPr>
              <a:t>HEARTBEAT ABSENT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59" y="5330952"/>
            <a:ext cx="3474720" cy="84124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75" b="0">
                <a:solidFill>
                  <a:srgbClr val="141414"/>
                </a:solidFill>
                <a:latin typeface="Arial"/>
              </a:rPr>
              <a:t>Un processus mort ne peut pas signaler sa panne : zombie.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21040" y="4937759"/>
            <a:ext cx="3474720" cy="13716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29600" y="4846320"/>
            <a:ext cx="3474720" cy="1371600"/>
          </a:xfrm>
          <a:prstGeom prst="rect">
            <a:avLst/>
          </a:prstGeom>
          <a:solidFill>
            <a:srgbClr val="F6F1E7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4919472"/>
            <a:ext cx="329183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10" b="1">
                <a:solidFill>
                  <a:srgbClr val="141414"/>
                </a:solidFill>
                <a:latin typeface="Arial Black"/>
              </a:rPr>
              <a:t>TIMEOUT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5330952"/>
            <a:ext cx="3291839" cy="84124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75" b="0">
                <a:solidFill>
                  <a:srgbClr val="141414"/>
                </a:solidFill>
                <a:latin typeface="Arial"/>
              </a:rPr>
              <a:t>Tâche bloquée interrompue (execution_timeout).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6510528"/>
            <a:ext cx="731520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6F1E7"/>
                </a:solidFill>
                <a:latin typeface="Courier New"/>
              </a:rPr>
              <a:t>FIABILITÉ DES PIPELINES BIG DATA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607040" y="6510528"/>
            <a:ext cx="1280160" cy="34747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607040" y="6510528"/>
            <a:ext cx="128016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41414"/>
                </a:solidFill>
                <a:latin typeface="Courier New"/>
              </a:rPr>
              <a:t>06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91440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746504" cy="34747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746504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6F1E7"/>
                </a:solidFill>
                <a:latin typeface="Courier New"/>
              </a:rPr>
              <a:t>Q1 · RÉCUPÉRER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31520"/>
            <a:ext cx="113385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41414"/>
                </a:solidFill>
                <a:latin typeface="Arial Black"/>
              </a:rPr>
              <a:t>POLITIQUE DE RETRY : BACKOFF + JITTER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74552" cy="128016"/>
          </a:xfrm>
          <a:prstGeom prst="rect">
            <a:avLst/>
          </a:prstGeom>
          <a:solidFill>
            <a:srgbClr val="F2C14E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5120640" cy="16459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120640" cy="1645920"/>
          </a:xfrm>
          <a:prstGeom prst="rect">
            <a:avLst/>
          </a:prstGeom>
          <a:solidFill>
            <a:srgbClr val="F2C14E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01952"/>
            <a:ext cx="493775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30" b="1">
                <a:solidFill>
                  <a:srgbClr val="141414"/>
                </a:solidFill>
                <a:latin typeface="Arial Black"/>
              </a:rPr>
              <a:t>BACKOFF EXPONENTIEL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13432"/>
            <a:ext cx="4937759" cy="111556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41414"/>
                </a:solidFill>
                <a:latin typeface="Arial"/>
              </a:rPr>
              <a:t>Délai croissant (2, 4, 8 min) pour laisser le système se rétablir.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749039"/>
            <a:ext cx="5120640" cy="13716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657600"/>
            <a:ext cx="5120640" cy="1371600"/>
          </a:xfrm>
          <a:prstGeom prst="rect">
            <a:avLst/>
          </a:prstGeom>
          <a:solidFill>
            <a:srgbClr val="7FCDB5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30752"/>
            <a:ext cx="493775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30" b="1">
                <a:solidFill>
                  <a:srgbClr val="141414"/>
                </a:solidFill>
                <a:latin typeface="Arial Black"/>
              </a:rPr>
              <a:t>JITTER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42232"/>
            <a:ext cx="4937759" cy="84124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41414"/>
                </a:solidFill>
                <a:latin typeface="Arial"/>
              </a:rPr>
              <a:t>Aléa : les tâches échouées ne repartent pas toutes à la même seconde.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5943600"/>
            <a:ext cx="1097280" cy="274320"/>
          </a:xfrm>
          <a:prstGeom prst="rect">
            <a:avLst/>
          </a:prstGeom>
          <a:solidFill>
            <a:srgbClr val="4B55C8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943600"/>
            <a:ext cx="109728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 Black"/>
              </a:rPr>
              <a:t>2m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0" y="5669280"/>
            <a:ext cx="1097280" cy="548640"/>
          </a:xfrm>
          <a:prstGeom prst="rect">
            <a:avLst/>
          </a:prstGeom>
          <a:solidFill>
            <a:srgbClr val="4B55C8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68880" y="5669280"/>
            <a:ext cx="109728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 Black"/>
              </a:rPr>
              <a:t>4m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0" y="5303520"/>
            <a:ext cx="1097280" cy="914400"/>
          </a:xfrm>
          <a:prstGeom prst="rect">
            <a:avLst/>
          </a:prstGeom>
          <a:solidFill>
            <a:srgbClr val="4B55C8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0" y="5303520"/>
            <a:ext cx="109728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 Black"/>
              </a:rPr>
              <a:t>8m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79" y="1920240"/>
            <a:ext cx="5669280" cy="4343400"/>
          </a:xfrm>
          <a:prstGeom prst="rect">
            <a:avLst/>
          </a:prstGeom>
          <a:solidFill>
            <a:srgbClr val="EF7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0" y="1828800"/>
            <a:ext cx="5669280" cy="4343400"/>
          </a:xfrm>
          <a:prstGeom prst="rect">
            <a:avLst/>
          </a:prstGeom>
          <a:solidFill>
            <a:srgbClr val="141414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44768" y="1901952"/>
            <a:ext cx="5449824" cy="41970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2C14E"/>
                </a:solidFill>
                <a:latin typeface="Courier New"/>
              </a:rPr>
              <a:t>default_args = {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F2C14E"/>
                </a:solidFill>
                <a:latin typeface="Courier New"/>
              </a:rPr>
              <a:t>  "retries": 3,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F2C14E"/>
                </a:solidFill>
                <a:latin typeface="Courier New"/>
              </a:rPr>
              <a:t>  "retry_delay": timedelta(minutes=2),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F2C14E"/>
                </a:solidFill>
                <a:latin typeface="Courier New"/>
              </a:rPr>
              <a:t>  "retry_exponential_backoff": True,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F2C14E"/>
                </a:solidFill>
                <a:latin typeface="Courier New"/>
              </a:rPr>
              <a:t>  "max_retry_delay": timedelta(minutes=30),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F2C14E"/>
                </a:solidFill>
                <a:latin typeface="Courier New"/>
              </a:rPr>
              <a:t>  "execution_timeout": timedelta(hours=1),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F2C14E"/>
                </a:solidFill>
                <a:latin typeface="Courier New"/>
              </a:rPr>
              <a:t>  "on_failure_callback": notify_failure,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F2C14E"/>
                </a:solidFill>
                <a:latin typeface="Courier New"/>
              </a:rPr>
              <a:t>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510528"/>
            <a:ext cx="731520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6F1E7"/>
                </a:solidFill>
                <a:latin typeface="Courier New"/>
              </a:rPr>
              <a:t>FIABILITÉ DES PIPELINES BIG DATA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07040" y="6510528"/>
            <a:ext cx="1280160" cy="34747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07040" y="6510528"/>
            <a:ext cx="128016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41414"/>
                </a:solidFill>
                <a:latin typeface="Courier New"/>
              </a:rPr>
              <a:t>07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91440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746504" cy="34747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746504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6F1E7"/>
                </a:solidFill>
                <a:latin typeface="Courier New"/>
              </a:rPr>
              <a:t>Q1 · RÉCUPÉRER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31520"/>
            <a:ext cx="113385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41414"/>
                </a:solidFill>
                <a:latin typeface="Arial Black"/>
              </a:rPr>
              <a:t>REPRISE CIBLÉE ET APPROCHES ALTERNATIVES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74552" cy="128016"/>
          </a:xfrm>
          <a:prstGeom prst="rect">
            <a:avLst/>
          </a:prstGeom>
          <a:solidFill>
            <a:srgbClr val="F2C14E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3520440" cy="15544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3520440" cy="1554480"/>
          </a:xfrm>
          <a:prstGeom prst="rect">
            <a:avLst/>
          </a:prstGeom>
          <a:solidFill>
            <a:srgbClr val="F2C14E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01952"/>
            <a:ext cx="333756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30" b="1">
                <a:solidFill>
                  <a:srgbClr val="141414"/>
                </a:solidFill>
                <a:latin typeface="Arial Black"/>
              </a:rPr>
              <a:t>CLEAR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13432"/>
            <a:ext cx="3337560" cy="102412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75" b="0">
                <a:solidFill>
                  <a:srgbClr val="141414"/>
                </a:solidFill>
                <a:latin typeface="Arial"/>
              </a:rPr>
              <a:t>Seules la tâche échouée et ses descendantes sont rejouées.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920240"/>
            <a:ext cx="3520440" cy="15544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828800"/>
            <a:ext cx="3520440" cy="1554480"/>
          </a:xfrm>
          <a:prstGeom prst="rect">
            <a:avLst/>
          </a:prstGeom>
          <a:solidFill>
            <a:srgbClr val="7FCDB5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901952"/>
            <a:ext cx="333756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30" b="1">
                <a:solidFill>
                  <a:srgbClr val="141414"/>
                </a:solidFill>
                <a:latin typeface="Arial Black"/>
              </a:rPr>
              <a:t>BACKFILL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313432"/>
            <a:ext cx="3337560" cy="102412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75" b="0">
                <a:solidFill>
                  <a:srgbClr val="141414"/>
                </a:solidFill>
                <a:latin typeface="Arial"/>
              </a:rPr>
              <a:t>Rejeu d'une période historique, tâches paramétrées par la fenêtre temporelle.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920240"/>
            <a:ext cx="3520440" cy="15544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828800"/>
            <a:ext cx="3520440" cy="1554480"/>
          </a:xfrm>
          <a:prstGeom prst="rect">
            <a:avLst/>
          </a:prstGeom>
          <a:solidFill>
            <a:srgbClr val="4B55C8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901952"/>
            <a:ext cx="333756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30" b="1">
                <a:solidFill>
                  <a:srgbClr val="FFFFFF"/>
                </a:solidFill>
                <a:latin typeface="Arial Black"/>
              </a:rPr>
              <a:t>REPAIR RUN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313432"/>
            <a:ext cx="3337560" cy="102412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75" b="0">
                <a:solidFill>
                  <a:srgbClr val="FFFFFF"/>
                </a:solidFill>
                <a:latin typeface="Arial"/>
              </a:rPr>
              <a:t>Databricks : relance les tâches en échec du run.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657600"/>
            <a:ext cx="2377440" cy="502920"/>
          </a:xfrm>
          <a:prstGeom prst="rect">
            <a:avLst/>
          </a:prstGeom>
          <a:solidFill>
            <a:srgbClr val="141414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" y="3675887"/>
            <a:ext cx="2304288" cy="46634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 Black"/>
              </a:rPr>
              <a:t>APPROCHE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3657600"/>
            <a:ext cx="6035040" cy="502920"/>
          </a:xfrm>
          <a:prstGeom prst="rect">
            <a:avLst/>
          </a:prstGeom>
          <a:solidFill>
            <a:srgbClr val="141414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62656" y="3675887"/>
            <a:ext cx="5961888" cy="46634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 Black"/>
              </a:rPr>
              <a:t>PRINCIPE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3657600"/>
            <a:ext cx="2651760" cy="502920"/>
          </a:xfrm>
          <a:prstGeom prst="rect">
            <a:avLst/>
          </a:prstGeom>
          <a:solidFill>
            <a:srgbClr val="141414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97696" y="3675887"/>
            <a:ext cx="2578608" cy="46634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 Black"/>
              </a:rPr>
              <a:t>EXEMPLE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160520"/>
            <a:ext cx="2377440" cy="502920"/>
          </a:xfrm>
          <a:prstGeom prst="rect">
            <a:avLst/>
          </a:prstGeom>
          <a:solidFill>
            <a:srgbClr val="F2C14E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6" y="4178807"/>
            <a:ext cx="2304288" cy="46634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41414"/>
                </a:solidFill>
                <a:latin typeface="Arial"/>
              </a:rPr>
              <a:t>État par tâche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0" y="4160520"/>
            <a:ext cx="6035040" cy="502920"/>
          </a:xfrm>
          <a:prstGeom prst="rect">
            <a:avLst/>
          </a:prstGeom>
          <a:solidFill>
            <a:srgbClr val="F6F1E7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62656" y="4178807"/>
            <a:ext cx="5961888" cy="46634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Arial"/>
              </a:rPr>
              <a:t>Statut persisté ; on rejoue les tâches échouées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0" y="4160520"/>
            <a:ext cx="2651760" cy="502920"/>
          </a:xfrm>
          <a:prstGeom prst="rect">
            <a:avLst/>
          </a:prstGeom>
          <a:solidFill>
            <a:srgbClr val="F6F1E7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97696" y="4178807"/>
            <a:ext cx="2578608" cy="46634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Arial"/>
              </a:rPr>
              <a:t>Airflow, Dagster, Prefect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663440"/>
            <a:ext cx="2377440" cy="502920"/>
          </a:xfrm>
          <a:prstGeom prst="rect">
            <a:avLst/>
          </a:prstGeom>
          <a:solidFill>
            <a:srgbClr val="F2C14E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5216" y="4681727"/>
            <a:ext cx="2304288" cy="46634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41414"/>
                </a:solidFill>
                <a:latin typeface="Arial"/>
              </a:rPr>
              <a:t>Event sourcing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0" y="4663440"/>
            <a:ext cx="6035040" cy="502920"/>
          </a:xfrm>
          <a:prstGeom prst="rect">
            <a:avLst/>
          </a:prstGeom>
          <a:solidFill>
            <a:srgbClr val="F6F1E7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62656" y="4681727"/>
            <a:ext cx="5961888" cy="46634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Arial"/>
              </a:rPr>
              <a:t>Journal rejoué de façon déterministe jusqu'au point de panne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61120" y="4663440"/>
            <a:ext cx="2651760" cy="502920"/>
          </a:xfrm>
          <a:prstGeom prst="rect">
            <a:avLst/>
          </a:prstGeom>
          <a:solidFill>
            <a:srgbClr val="F6F1E7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97696" y="4681727"/>
            <a:ext cx="2578608" cy="46634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Arial"/>
              </a:rPr>
              <a:t>Temporal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166359"/>
            <a:ext cx="2377440" cy="502920"/>
          </a:xfrm>
          <a:prstGeom prst="rect">
            <a:avLst/>
          </a:prstGeom>
          <a:solidFill>
            <a:srgbClr val="F2C14E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5216" y="5184647"/>
            <a:ext cx="2304288" cy="46634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41414"/>
                </a:solidFill>
                <a:latin typeface="Arial"/>
              </a:rPr>
              <a:t>Checkpointing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26080" y="5166359"/>
            <a:ext cx="6035040" cy="502920"/>
          </a:xfrm>
          <a:prstGeom prst="rect">
            <a:avLst/>
          </a:prstGeom>
          <a:solidFill>
            <a:srgbClr val="F6F1E7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62656" y="5184647"/>
            <a:ext cx="5961888" cy="46634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Arial"/>
              </a:rPr>
              <a:t>Reprise du dernier point cohérent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61120" y="5166359"/>
            <a:ext cx="2651760" cy="502920"/>
          </a:xfrm>
          <a:prstGeom prst="rect">
            <a:avLst/>
          </a:prstGeom>
          <a:solidFill>
            <a:srgbClr val="F6F1E7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97696" y="5184647"/>
            <a:ext cx="2578608" cy="46634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Arial"/>
              </a:rPr>
              <a:t>Spark SS, Flink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669279"/>
            <a:ext cx="2377440" cy="502920"/>
          </a:xfrm>
          <a:prstGeom prst="rect">
            <a:avLst/>
          </a:prstGeom>
          <a:solidFill>
            <a:srgbClr val="F2C14E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5216" y="5687567"/>
            <a:ext cx="2304288" cy="46634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41414"/>
                </a:solidFill>
                <a:latin typeface="Arial"/>
              </a:rPr>
              <a:t>Lignage de calcul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26080" y="5669279"/>
            <a:ext cx="6035040" cy="502920"/>
          </a:xfrm>
          <a:prstGeom prst="rect">
            <a:avLst/>
          </a:prstGeom>
          <a:solidFill>
            <a:srgbClr val="F6F1E7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962656" y="5687567"/>
            <a:ext cx="5961888" cy="46634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Arial"/>
              </a:rPr>
              <a:t>Partition perdue recalculée depuis ses parents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61120" y="5669279"/>
            <a:ext cx="2651760" cy="502920"/>
          </a:xfrm>
          <a:prstGeom prst="rect">
            <a:avLst/>
          </a:prstGeom>
          <a:solidFill>
            <a:srgbClr val="F6F1E7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97696" y="5687567"/>
            <a:ext cx="2578608" cy="46634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Arial"/>
              </a:rPr>
              <a:t>Spark (RDD)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6510528"/>
            <a:ext cx="731520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6F1E7"/>
                </a:solidFill>
                <a:latin typeface="Courier New"/>
              </a:rPr>
              <a:t>FIABILITÉ DES PIPELINES BIG DATA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607040" y="6510528"/>
            <a:ext cx="1280160" cy="34747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607040" y="6510528"/>
            <a:ext cx="128016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41414"/>
                </a:solidFill>
                <a:latin typeface="Courier New"/>
              </a:rPr>
              <a:t>08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91440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746504" cy="34747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746504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6F1E7"/>
                </a:solidFill>
                <a:latin typeface="Courier New"/>
              </a:rPr>
              <a:t>Q1 · RÉCUPÉRER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31520"/>
            <a:ext cx="113385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41414"/>
                </a:solidFill>
                <a:latin typeface="Arial Black"/>
              </a:rPr>
              <a:t>IDEMPOTENCE ET RÉSILIENCE DE L'ORCHESTRATEUR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74552" cy="128016"/>
          </a:xfrm>
          <a:prstGeom prst="rect">
            <a:avLst/>
          </a:prstGeom>
          <a:solidFill>
            <a:srgbClr val="F2C14E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2651760" cy="173736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2651760" cy="1737360"/>
          </a:xfrm>
          <a:prstGeom prst="rect">
            <a:avLst/>
          </a:prstGeom>
          <a:solidFill>
            <a:srgbClr val="F2C14E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01952"/>
            <a:ext cx="246887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10" b="1">
                <a:solidFill>
                  <a:srgbClr val="141414"/>
                </a:solidFill>
                <a:latin typeface="Arial Black"/>
              </a:rPr>
              <a:t>INSERT OVERWRITE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13432"/>
            <a:ext cx="2468879" cy="120700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75" b="0">
                <a:solidFill>
                  <a:srgbClr val="141414"/>
                </a:solidFill>
                <a:latin typeface="Arial"/>
              </a:rPr>
              <a:t>La relance remplace la partition.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920240"/>
            <a:ext cx="2651760" cy="173736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828800"/>
            <a:ext cx="2651760" cy="1737360"/>
          </a:xfrm>
          <a:prstGeom prst="rect">
            <a:avLst/>
          </a:prstGeom>
          <a:solidFill>
            <a:srgbClr val="7FCDB5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901952"/>
            <a:ext cx="246887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10" b="1">
                <a:solidFill>
                  <a:srgbClr val="141414"/>
                </a:solidFill>
                <a:latin typeface="Arial Black"/>
              </a:rPr>
              <a:t>MERGE (UPSERT)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313432"/>
            <a:ext cx="2468879" cy="120700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75" b="0">
                <a:solidFill>
                  <a:srgbClr val="141414"/>
                </a:solidFill>
                <a:latin typeface="Arial"/>
              </a:rPr>
              <a:t>Pas de doublon sur clé métier.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59" y="1920240"/>
            <a:ext cx="2651760" cy="173736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828800"/>
            <a:ext cx="2651760" cy="1737360"/>
          </a:xfrm>
          <a:prstGeom prst="rect">
            <a:avLst/>
          </a:prstGeom>
          <a:solidFill>
            <a:srgbClr val="4B55C8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59" y="1901952"/>
            <a:ext cx="246887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10" b="1">
                <a:solidFill>
                  <a:srgbClr val="FFFFFF"/>
                </a:solidFill>
                <a:latin typeface="Arial Black"/>
              </a:rPr>
              <a:t>COMMIT ATOMIQUE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2313432"/>
            <a:ext cx="2468879" cy="120700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75" b="0">
                <a:solidFill>
                  <a:srgbClr val="FFFFFF"/>
                </a:solidFill>
                <a:latin typeface="Arial"/>
              </a:rPr>
              <a:t>Delta, Iceberg, Hudi : rien de visible en cas d'échec.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920240"/>
            <a:ext cx="2651760" cy="173736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2560" y="1828800"/>
            <a:ext cx="2651760" cy="1737360"/>
          </a:xfrm>
          <a:prstGeom prst="rect">
            <a:avLst/>
          </a:prstGeom>
          <a:solidFill>
            <a:srgbClr val="EF7B63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1901952"/>
            <a:ext cx="246887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10" b="1">
                <a:solidFill>
                  <a:srgbClr val="141414"/>
                </a:solidFill>
                <a:latin typeface="Arial Black"/>
              </a:rPr>
              <a:t>FENÊTRE TEMPORELLE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313432"/>
            <a:ext cx="2468879" cy="120700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75" b="0">
                <a:solidFill>
                  <a:srgbClr val="141414"/>
                </a:solidFill>
                <a:latin typeface="Arial"/>
              </a:rPr>
              <a:t>Paramétrer par la fenêtre, pas par « maintenant ».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840479"/>
            <a:ext cx="11064240" cy="9144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749039"/>
            <a:ext cx="11064240" cy="914400"/>
          </a:xfrm>
          <a:prstGeom prst="rect">
            <a:avLst/>
          </a:prstGeom>
          <a:solidFill>
            <a:srgbClr val="F2C14E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822191"/>
            <a:ext cx="10881360" cy="79552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25" b="1">
                <a:solidFill>
                  <a:srgbClr val="141414"/>
                </a:solidFill>
                <a:latin typeface="Arial"/>
              </a:rPr>
              <a:t>À RETENIR :</a:t>
            </a:r>
            <a:r>
              <a:rPr sz="1625" b="0">
                <a:solidFill>
                  <a:srgbClr val="141414"/>
                </a:solidFill>
                <a:latin typeface="Arial"/>
              </a:rPr>
              <a:t> l'orchestrateur garantit « </a:t>
            </a:r>
            <a:r>
              <a:rPr sz="1625" b="1">
                <a:solidFill>
                  <a:srgbClr val="141414"/>
                </a:solidFill>
                <a:latin typeface="Arial"/>
              </a:rPr>
              <a:t>au moins une fois</a:t>
            </a:r>
            <a:r>
              <a:rPr sz="1625" b="0">
                <a:solidFill>
                  <a:srgbClr val="141414"/>
                </a:solidFill>
                <a:latin typeface="Arial"/>
              </a:rPr>
              <a:t> » ; avec des écritures idempotentes : « </a:t>
            </a:r>
            <a:r>
              <a:rPr sz="1625" b="1">
                <a:solidFill>
                  <a:srgbClr val="141414"/>
                </a:solidFill>
                <a:latin typeface="Arial"/>
              </a:rPr>
              <a:t>exactement une fois</a:t>
            </a:r>
            <a:r>
              <a:rPr sz="1625" b="0">
                <a:solidFill>
                  <a:srgbClr val="141414"/>
                </a:solidFill>
                <a:latin typeface="Arial"/>
              </a:rPr>
              <a:t> ».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937759"/>
            <a:ext cx="2651760" cy="14173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846320"/>
            <a:ext cx="2651760" cy="1417320"/>
          </a:xfrm>
          <a:prstGeom prst="rect">
            <a:avLst/>
          </a:prstGeom>
          <a:solidFill>
            <a:srgbClr val="7FCDB5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919472"/>
            <a:ext cx="246887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41414"/>
                </a:solidFill>
                <a:latin typeface="Arial Black"/>
              </a:rPr>
              <a:t>HAUTE DISPONIBILITÉ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330952"/>
            <a:ext cx="2468879" cy="88696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Plusieurs schedulers, verrouillage en base.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0" y="4937759"/>
            <a:ext cx="2651760" cy="14173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83280" y="4846320"/>
            <a:ext cx="2651760" cy="1417320"/>
          </a:xfrm>
          <a:prstGeom prst="rect">
            <a:avLst/>
          </a:prstGeom>
          <a:solidFill>
            <a:srgbClr val="F2C14E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0" y="4919472"/>
            <a:ext cx="2468879" cy="6400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41414"/>
                </a:solidFill>
                <a:latin typeface="Arial Black"/>
              </a:rPr>
              <a:t>REDÉMARRAGE SANS PERTE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5559552"/>
            <a:ext cx="2468879" cy="65836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Relit la base, réattribue les tâches orphelines.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59" y="4937759"/>
            <a:ext cx="2651760" cy="14173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4846320"/>
            <a:ext cx="2651760" cy="1417320"/>
          </a:xfrm>
          <a:prstGeom prst="rect">
            <a:avLst/>
          </a:prstGeom>
          <a:solidFill>
            <a:srgbClr val="4B55C8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59" y="4919472"/>
            <a:ext cx="246887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 Black"/>
              </a:rPr>
              <a:t>EXÉCUTEURS DISTRIBUÉS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59" y="5330952"/>
            <a:ext cx="2468879" cy="88696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Celery, Kubernetes : reprise sur un autre worker.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4937759"/>
            <a:ext cx="2651760" cy="14173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052560" y="4846320"/>
            <a:ext cx="2651760" cy="1417320"/>
          </a:xfrm>
          <a:prstGeom prst="rect">
            <a:avLst/>
          </a:prstGeom>
          <a:solidFill>
            <a:srgbClr val="EF7B63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0" y="4919472"/>
            <a:ext cx="2468879" cy="6400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41414"/>
                </a:solidFill>
                <a:latin typeface="Arial Black"/>
              </a:rPr>
              <a:t>BASE : COMPOSANT CRITIQUE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5559552"/>
            <a:ext cx="2468879" cy="65836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Sauvegarde et réplication indispensables.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6510528"/>
            <a:ext cx="731520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6F1E7"/>
                </a:solidFill>
                <a:latin typeface="Courier New"/>
              </a:rPr>
              <a:t>FIABILITÉ DES PIPELINES BIG DATA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607040" y="6510528"/>
            <a:ext cx="1280160" cy="34747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607040" y="6510528"/>
            <a:ext cx="128016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41414"/>
                </a:solidFill>
                <a:latin typeface="Courier New"/>
              </a:rPr>
              <a:t>09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91440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641348" cy="34747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641348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6F1E7"/>
                </a:solidFill>
                <a:latin typeface="Courier New"/>
              </a:rPr>
              <a:t>Q2 · PRÉVENIR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31520"/>
            <a:ext cx="113385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41414"/>
                </a:solidFill>
                <a:latin typeface="Arial Black"/>
              </a:rPr>
              <a:t>SURVEILLER AUTOMATIQUEMENT LA QUALITÉ DES DONNÉES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74552" cy="128016"/>
          </a:xfrm>
          <a:prstGeom prst="rect">
            <a:avLst/>
          </a:prstGeom>
          <a:solidFill>
            <a:srgbClr val="7FCDB5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4754880" cy="13716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4754880" cy="1371600"/>
          </a:xfrm>
          <a:prstGeom prst="rect">
            <a:avLst/>
          </a:prstGeom>
          <a:solidFill>
            <a:srgbClr val="7FCDB5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01952"/>
            <a:ext cx="457200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30" b="1">
                <a:solidFill>
                  <a:srgbClr val="141414"/>
                </a:solidFill>
                <a:latin typeface="Arial Black"/>
              </a:rPr>
              <a:t>SUCCÈS 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13432"/>
            <a:ext cx="4572000" cy="84124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41414"/>
                </a:solidFill>
                <a:latin typeface="Arial"/>
              </a:rPr>
              <a:t>Tâche « verte » : aucune erreur.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920240"/>
            <a:ext cx="1554480" cy="10972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6000" b="1">
                <a:solidFill>
                  <a:srgbClr val="141414"/>
                </a:solidFill>
                <a:latin typeface="Arial Black"/>
              </a:rPr>
              <a:t>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1920240"/>
            <a:ext cx="4754880" cy="13716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0" y="1828800"/>
            <a:ext cx="4754880" cy="1371600"/>
          </a:xfrm>
          <a:prstGeom prst="rect">
            <a:avLst/>
          </a:prstGeom>
          <a:solidFill>
            <a:srgbClr val="EF7B63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1901952"/>
            <a:ext cx="457200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30" b="1">
                <a:solidFill>
                  <a:srgbClr val="141414"/>
                </a:solidFill>
                <a:latin typeface="Arial Black"/>
              </a:rPr>
              <a:t>SUCCÈS FONCTIONNEL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313432"/>
            <a:ext cx="4572000" cy="84124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75" b="0">
                <a:solidFill>
                  <a:srgbClr val="141414"/>
                </a:solidFill>
                <a:latin typeface="Arial"/>
              </a:rPr>
              <a:t>Résultat correct, complet, utilisable ? Demi-lignes, unités changées, jointures dupliquées.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566160"/>
            <a:ext cx="2651760" cy="11887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474720"/>
            <a:ext cx="2651760" cy="1188720"/>
          </a:xfrm>
          <a:prstGeom prst="rect">
            <a:avLst/>
          </a:prstGeom>
          <a:solidFill>
            <a:srgbClr val="F2C14E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547872"/>
            <a:ext cx="246887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41414"/>
                </a:solidFill>
                <a:latin typeface="Arial Black"/>
              </a:rPr>
              <a:t>COMPLÉTUDE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959352"/>
            <a:ext cx="2468879" cy="65836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Taux de nulls sous seuil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3566160"/>
            <a:ext cx="2651760" cy="11887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83280" y="3474720"/>
            <a:ext cx="2651760" cy="1188720"/>
          </a:xfrm>
          <a:prstGeom prst="rect">
            <a:avLst/>
          </a:prstGeom>
          <a:solidFill>
            <a:srgbClr val="7FCDB5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3547872"/>
            <a:ext cx="246887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41414"/>
                </a:solidFill>
                <a:latin typeface="Arial Black"/>
              </a:rPr>
              <a:t>UNICITÉ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959352"/>
            <a:ext cx="2468879" cy="65836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Aucune clé dupliquée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59" y="3566160"/>
            <a:ext cx="2651760" cy="11887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474720"/>
            <a:ext cx="2651760" cy="1188720"/>
          </a:xfrm>
          <a:prstGeom prst="rect">
            <a:avLst/>
          </a:prstGeom>
          <a:solidFill>
            <a:srgbClr val="4B55C8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59" y="3547872"/>
            <a:ext cx="246887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 Black"/>
              </a:rPr>
              <a:t>VALIDITÉ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59" y="3959352"/>
            <a:ext cx="2468879" cy="65836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Formats, domaines, intégrité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3566160"/>
            <a:ext cx="2651760" cy="11887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52560" y="3474720"/>
            <a:ext cx="2651760" cy="1188720"/>
          </a:xfrm>
          <a:prstGeom prst="rect">
            <a:avLst/>
          </a:prstGeom>
          <a:solidFill>
            <a:srgbClr val="EF7B63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0" y="3547872"/>
            <a:ext cx="246887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41414"/>
                </a:solidFill>
                <a:latin typeface="Arial Black"/>
              </a:rPr>
              <a:t>FRAÎCHEUR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959352"/>
            <a:ext cx="2468879" cy="65836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Dernier enregistrement &lt; N 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937759"/>
            <a:ext cx="2651760" cy="11887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846320"/>
            <a:ext cx="2651760" cy="1188720"/>
          </a:xfrm>
          <a:prstGeom prst="rect">
            <a:avLst/>
          </a:prstGeom>
          <a:solidFill>
            <a:srgbClr val="F2C14E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919472"/>
            <a:ext cx="246887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41414"/>
                </a:solidFill>
                <a:latin typeface="Arial Black"/>
              </a:rPr>
              <a:t>VOLUMÉTRIE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330952"/>
            <a:ext cx="2468879" cy="65836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Lignes dans la fourchette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74720" y="4937759"/>
            <a:ext cx="2651760" cy="11887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383280" y="4846320"/>
            <a:ext cx="2651760" cy="1188720"/>
          </a:xfrm>
          <a:prstGeom prst="rect">
            <a:avLst/>
          </a:prstGeom>
          <a:solidFill>
            <a:srgbClr val="7FCDB5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0" y="4919472"/>
            <a:ext cx="246887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41414"/>
                </a:solidFill>
                <a:latin typeface="Arial Black"/>
              </a:rPr>
              <a:t>DISTRIBUTION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5330952"/>
            <a:ext cx="2468879" cy="65836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Moyenne, quantiles stables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59" y="4937759"/>
            <a:ext cx="2651760" cy="11887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4846320"/>
            <a:ext cx="2651760" cy="1188720"/>
          </a:xfrm>
          <a:prstGeom prst="rect">
            <a:avLst/>
          </a:prstGeom>
          <a:solidFill>
            <a:srgbClr val="4B55C8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59" y="4919472"/>
            <a:ext cx="246887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 Black"/>
              </a:rPr>
              <a:t>SCHÉMA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59" y="5330952"/>
            <a:ext cx="2468879" cy="65836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Aucune colonne supprimée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4937759"/>
            <a:ext cx="2651760" cy="11887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052560" y="4846320"/>
            <a:ext cx="2651760" cy="1188720"/>
          </a:xfrm>
          <a:prstGeom prst="rect">
            <a:avLst/>
          </a:prstGeom>
          <a:solidFill>
            <a:srgbClr val="141414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0" y="4919472"/>
            <a:ext cx="2468879" cy="10698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75" b="0">
                <a:solidFill>
                  <a:srgbClr val="F2C14E"/>
                </a:solidFill>
                <a:latin typeface="Arial"/>
              </a:rPr>
              <a:t>Contrôles </a:t>
            </a:r>
            <a:r>
              <a:rPr sz="1375" b="1">
                <a:solidFill>
                  <a:srgbClr val="F2C14E"/>
                </a:solidFill>
                <a:latin typeface="Arial"/>
              </a:rPr>
              <a:t>déclaratifs</a:t>
            </a:r>
            <a:r>
              <a:rPr sz="1375" b="0">
                <a:solidFill>
                  <a:srgbClr val="F2C14E"/>
                </a:solidFill>
                <a:latin typeface="Arial"/>
              </a:rPr>
              <a:t> à chaque run.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510528"/>
            <a:ext cx="731520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6F1E7"/>
                </a:solidFill>
                <a:latin typeface="Courier New"/>
              </a:rPr>
              <a:t>FIABILITÉ DES PIPELINES BIG DATA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607040" y="6510528"/>
            <a:ext cx="1280160" cy="34747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607040" y="6510528"/>
            <a:ext cx="128016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41414"/>
                </a:solidFill>
                <a:latin typeface="Courier New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91440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641348" cy="34747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641348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6F1E7"/>
                </a:solidFill>
                <a:latin typeface="Courier New"/>
              </a:rPr>
              <a:t>Q2 · PRÉVENIR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31520"/>
            <a:ext cx="113385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41414"/>
                </a:solidFill>
                <a:latin typeface="Arial Black"/>
              </a:rPr>
              <a:t>OÙ CONTRÔLER ET AVEC QUELS OUTILS 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74552" cy="128016"/>
          </a:xfrm>
          <a:prstGeom prst="rect">
            <a:avLst/>
          </a:prstGeom>
          <a:solidFill>
            <a:srgbClr val="7FCDB5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3520440" cy="173736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3520440" cy="1737360"/>
          </a:xfrm>
          <a:prstGeom prst="rect">
            <a:avLst/>
          </a:prstGeom>
          <a:solidFill>
            <a:srgbClr val="EF7B63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01952"/>
            <a:ext cx="333756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20" b="1">
                <a:solidFill>
                  <a:srgbClr val="141414"/>
                </a:solidFill>
                <a:latin typeface="Arial Black"/>
              </a:rPr>
              <a:t>À L'INGESTION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13432"/>
            <a:ext cx="3337560" cy="120700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75" b="0">
                <a:solidFill>
                  <a:srgbClr val="141414"/>
                </a:solidFill>
                <a:latin typeface="Arial"/>
              </a:rPr>
              <a:t>Schéma et fraîcheur dès l'arrivée : rejet précoce peu coûteux.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096511" y="2468880"/>
            <a:ext cx="228600" cy="365760"/>
          </a:xfrm>
          <a:prstGeom prst="rightArrow">
            <a:avLst/>
          </a:prstGeom>
          <a:solidFill>
            <a:srgbClr val="141414"/>
          </a:solidFill>
          <a:ln w="254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920240"/>
            <a:ext cx="3520440" cy="173736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828800"/>
            <a:ext cx="3520440" cy="1737360"/>
          </a:xfrm>
          <a:prstGeom prst="rect">
            <a:avLst/>
          </a:prstGeom>
          <a:solidFill>
            <a:srgbClr val="F2C14E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901952"/>
            <a:ext cx="3337560" cy="6400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20" b="1">
                <a:solidFill>
                  <a:srgbClr val="141414"/>
                </a:solidFill>
                <a:latin typeface="Arial Black"/>
              </a:rPr>
              <a:t>ENTRE LES TRANSFORMATIONS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542032"/>
            <a:ext cx="3337560" cy="97840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75" b="0">
                <a:solidFill>
                  <a:srgbClr val="141414"/>
                </a:solidFill>
                <a:latin typeface="Arial"/>
              </a:rPr>
              <a:t>Invariants : lignes avant/après jointure, pas de doublons.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891271" y="2468880"/>
            <a:ext cx="228600" cy="365760"/>
          </a:xfrm>
          <a:prstGeom prst="rightArrow">
            <a:avLst/>
          </a:prstGeom>
          <a:solidFill>
            <a:srgbClr val="141414"/>
          </a:solidFill>
          <a:ln w="254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920240"/>
            <a:ext cx="3520440" cy="173736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828800"/>
            <a:ext cx="3520440" cy="1737360"/>
          </a:xfrm>
          <a:prstGeom prst="rect">
            <a:avLst/>
          </a:prstGeom>
          <a:solidFill>
            <a:srgbClr val="7FCDB5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901952"/>
            <a:ext cx="333756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20" b="1">
                <a:solidFill>
                  <a:srgbClr val="141414"/>
                </a:solidFill>
                <a:latin typeface="Arial Black"/>
              </a:rPr>
              <a:t>AVANT LA PUBLICATION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313432"/>
            <a:ext cx="3337560" cy="120700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75" b="0">
                <a:solidFill>
                  <a:srgbClr val="141414"/>
                </a:solidFill>
                <a:latin typeface="Arial"/>
              </a:rPr>
              <a:t>Dernière barrière avant la BI et le ML.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886200"/>
            <a:ext cx="11064240" cy="9144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794760"/>
            <a:ext cx="11064240" cy="914400"/>
          </a:xfrm>
          <a:prstGeom prst="rect">
            <a:avLst/>
          </a:prstGeom>
          <a:solidFill>
            <a:srgbClr val="141414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867912"/>
            <a:ext cx="10881360" cy="79552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75" b="1">
                <a:solidFill>
                  <a:srgbClr val="F2C14E"/>
                </a:solidFill>
                <a:latin typeface="Arial"/>
              </a:rPr>
              <a:t>Outils :</a:t>
            </a:r>
            <a:r>
              <a:rPr sz="1375" b="0">
                <a:solidFill>
                  <a:srgbClr val="F2C14E"/>
                </a:solidFill>
                <a:latin typeface="Arial"/>
              </a:rPr>
              <a:t> Great Expectations · Soda · dbt tests · Deequ · Pandera — règles déclaratives + rapport à chaque exécution.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983479"/>
            <a:ext cx="2651760" cy="13716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892040"/>
            <a:ext cx="2651760" cy="1371600"/>
          </a:xfrm>
          <a:prstGeom prst="rect">
            <a:avLst/>
          </a:prstGeom>
          <a:solidFill>
            <a:srgbClr val="F2C14E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965192"/>
            <a:ext cx="246887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41414"/>
                </a:solidFill>
                <a:latin typeface="Arial Black"/>
              </a:rPr>
              <a:t>QUALITY GATES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376672"/>
            <a:ext cx="2468879" cy="84124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Arrêt ou quarantaine du lot si contrôle critique en échec.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0" y="4983479"/>
            <a:ext cx="2651760" cy="13716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83280" y="4892040"/>
            <a:ext cx="2651760" cy="1371600"/>
          </a:xfrm>
          <a:prstGeom prst="rect">
            <a:avLst/>
          </a:prstGeom>
          <a:solidFill>
            <a:srgbClr val="7FCDB5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4965192"/>
            <a:ext cx="246887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41414"/>
                </a:solidFill>
                <a:latin typeface="Arial Black"/>
              </a:rPr>
              <a:t>DÉTECTION D'ANOMALIES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5376672"/>
            <a:ext cx="2468879" cy="84124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Seuils dynamiques sur l'historique.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59" y="4983479"/>
            <a:ext cx="2651760" cy="13716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4892040"/>
            <a:ext cx="2651760" cy="1371600"/>
          </a:xfrm>
          <a:prstGeom prst="rect">
            <a:avLst/>
          </a:prstGeom>
          <a:solidFill>
            <a:srgbClr val="4B55C8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59" y="4965192"/>
            <a:ext cx="246887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 Black"/>
              </a:rPr>
              <a:t>DATA CONTRACTS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59" y="5376672"/>
            <a:ext cx="2468879" cy="84124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Accord producteur / consommateur validé en CI.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0" y="4983479"/>
            <a:ext cx="2651760" cy="13716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52560" y="4892040"/>
            <a:ext cx="2651760" cy="1371600"/>
          </a:xfrm>
          <a:prstGeom prst="rect">
            <a:avLst/>
          </a:prstGeom>
          <a:solidFill>
            <a:srgbClr val="EF7B63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4965192"/>
            <a:ext cx="246887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41414"/>
                </a:solidFill>
                <a:latin typeface="Arial Black"/>
              </a:rPr>
              <a:t>GRAVITÉ GRADUÉE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5376672"/>
            <a:ext cx="2468879" cy="84124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Bloquant vs avertissement : évite la fatigue d'alerte.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510528"/>
            <a:ext cx="731520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6F1E7"/>
                </a:solidFill>
                <a:latin typeface="Courier New"/>
              </a:rPr>
              <a:t>FIABILITÉ DES PIPELINES BIG DATA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607040" y="6510528"/>
            <a:ext cx="1280160" cy="34747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607040" y="6510528"/>
            <a:ext cx="128016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41414"/>
                </a:solidFill>
                <a:latin typeface="Courier New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91440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641348" cy="34747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641348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6F1E7"/>
                </a:solidFill>
                <a:latin typeface="Courier New"/>
              </a:rPr>
              <a:t>Q2 · PRÉVENIR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31520"/>
            <a:ext cx="113385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41414"/>
                </a:solidFill>
                <a:latin typeface="Arial Black"/>
              </a:rPr>
              <a:t>BARRIÈRE DE QUALITÉ ET INDICATEURS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74552" cy="128016"/>
          </a:xfrm>
          <a:prstGeom prst="rect">
            <a:avLst/>
          </a:prstGeom>
          <a:solidFill>
            <a:srgbClr val="7FCDB5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6400800" cy="4343400"/>
          </a:xfrm>
          <a:prstGeom prst="rect">
            <a:avLst/>
          </a:prstGeom>
          <a:solidFill>
            <a:srgbClr val="EF7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6400800" cy="4343400"/>
          </a:xfrm>
          <a:prstGeom prst="rect">
            <a:avLst/>
          </a:prstGeom>
          <a:solidFill>
            <a:srgbClr val="141414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01952"/>
            <a:ext cx="6181344" cy="41970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2C14E"/>
                </a:solidFill>
                <a:latin typeface="Courier New"/>
              </a:rPr>
              <a:t>quality_gate = SQLTableCheckOperator(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F2C14E"/>
                </a:solidFill>
                <a:latin typeface="Courier New"/>
              </a:rPr>
              <a:t>  task_id="quality_gate",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F2C14E"/>
                </a:solidFill>
                <a:latin typeface="Courier New"/>
              </a:rPr>
              <a:t>  conn_id="warehouse",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F2C14E"/>
                </a:solidFill>
                <a:latin typeface="Courier New"/>
              </a:rPr>
              <a:t>  table="sales",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F2C14E"/>
                </a:solidFill>
                <a:latin typeface="Courier New"/>
              </a:rPr>
              <a:t>  checks={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F2C14E"/>
                </a:solidFill>
                <a:latin typeface="Courier New"/>
              </a:rPr>
              <a:t>    "not_empty": {"check_statement": "COUNT(*) &gt; 0"},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F2C14E"/>
                </a:solidFill>
                <a:latin typeface="Courier New"/>
              </a:rPr>
              <a:t>    "no_dupes": {"check_statement":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F2C14E"/>
                </a:solidFill>
                <a:latin typeface="Courier New"/>
              </a:rPr>
              <a:t>      "COUNT(*) = COUNT(DISTINCT order_id)"},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F2C14E"/>
                </a:solidFill>
                <a:latin typeface="Courier New"/>
              </a:rPr>
              <a:t>  },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F2C14E"/>
                </a:solidFill>
                <a:latin typeface="Courier New"/>
              </a:rPr>
              <a:t>  partition_clause="ds = '{{ ds }}'",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F2C14E"/>
                </a:solidFill>
                <a:latin typeface="Courier New"/>
              </a:rPr>
              <a:t>)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F2C14E"/>
                </a:solidFill>
                <a:latin typeface="Courier New"/>
              </a:rPr>
              <a:t>load &gt;&gt; quality_gate &gt;&gt; publish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F2C14E"/>
                </a:solidFill>
                <a:latin typeface="Courier New"/>
              </a:rPr>
              <a:t># publish seulement si le contrôle réussit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920240"/>
            <a:ext cx="4480560" cy="13258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23760" y="1828800"/>
            <a:ext cx="4480560" cy="1325880"/>
          </a:xfrm>
          <a:prstGeom prst="rect">
            <a:avLst/>
          </a:prstGeom>
          <a:solidFill>
            <a:srgbClr val="F2C14E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1874519"/>
            <a:ext cx="1828800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41414"/>
                </a:solidFill>
                <a:latin typeface="Arial Black"/>
              </a:rPr>
              <a:t>MTTD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1874519"/>
            <a:ext cx="2468880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Arial"/>
              </a:rPr>
              <a:t>Temps moyen de détection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3383280"/>
            <a:ext cx="4480560" cy="13258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23760" y="3291840"/>
            <a:ext cx="4480560" cy="1325880"/>
          </a:xfrm>
          <a:prstGeom prst="rect">
            <a:avLst/>
          </a:prstGeom>
          <a:solidFill>
            <a:srgbClr val="7FCDB5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3337560"/>
            <a:ext cx="1828800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41414"/>
                </a:solidFill>
                <a:latin typeface="Arial Black"/>
              </a:rPr>
              <a:t>MTTR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337560"/>
            <a:ext cx="2468880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Arial"/>
              </a:rPr>
              <a:t>Temps moyen de résolution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4846320"/>
            <a:ext cx="4480560" cy="13258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23760" y="4754880"/>
            <a:ext cx="4480560" cy="1325880"/>
          </a:xfrm>
          <a:prstGeom prst="rect">
            <a:avLst/>
          </a:prstGeom>
          <a:solidFill>
            <a:srgbClr val="EF7B63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4800600"/>
            <a:ext cx="1828800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41414"/>
                </a:solidFill>
                <a:latin typeface="Arial Black"/>
              </a:rPr>
              <a:t>DOWNTIME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4800600"/>
            <a:ext cx="2468880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Arial"/>
              </a:rPr>
              <a:t>Durée des données manquantes, erronées ou périmées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10528"/>
            <a:ext cx="731520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6F1E7"/>
                </a:solidFill>
                <a:latin typeface="Courier New"/>
              </a:rPr>
              <a:t>FIABILITÉ DES PIPELINES BIG DATA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07040" y="6510528"/>
            <a:ext cx="1280160" cy="34747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07040" y="6510528"/>
            <a:ext cx="128016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41414"/>
                </a:solidFill>
                <a:latin typeface="Courier New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91440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2167128" cy="34747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2167128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6F1E7"/>
                </a:solidFill>
                <a:latin typeface="Courier New"/>
              </a:rPr>
              <a:t>Q3 · DIAGNOSTIQUER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31520"/>
            <a:ext cx="113385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41414"/>
                </a:solidFill>
                <a:latin typeface="Arial Black"/>
              </a:rPr>
              <a:t>LIGNAGE ET OBSERVABILITÉ : DIAGNOSTIQUER LES ERREURS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74552" cy="128016"/>
          </a:xfrm>
          <a:prstGeom prst="rect">
            <a:avLst/>
          </a:prstGeom>
          <a:solidFill>
            <a:srgbClr val="4B55C8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2286000" cy="82296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2286000" cy="822960"/>
          </a:xfrm>
          <a:prstGeom prst="rect">
            <a:avLst/>
          </a:prstGeom>
          <a:solidFill>
            <a:srgbClr val="7FCDB5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22860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41414"/>
                </a:solidFill>
                <a:latin typeface="Courier New"/>
              </a:rPr>
              <a:t>orders_raw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880360" y="2057400"/>
            <a:ext cx="411480" cy="365760"/>
          </a:xfrm>
          <a:prstGeom prst="rightArrow">
            <a:avLst/>
          </a:prstGeom>
          <a:solidFill>
            <a:srgbClr val="141414"/>
          </a:solidFill>
          <a:ln w="254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920240"/>
            <a:ext cx="2286000" cy="82296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828800"/>
            <a:ext cx="2286000" cy="822960"/>
          </a:xfrm>
          <a:prstGeom prst="rect">
            <a:avLst/>
          </a:prstGeom>
          <a:solidFill>
            <a:srgbClr val="F2C14E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828800"/>
            <a:ext cx="22860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41414"/>
                </a:solidFill>
                <a:latin typeface="Courier New"/>
              </a:rPr>
              <a:t>orders_clean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715000" y="2057400"/>
            <a:ext cx="411480" cy="365760"/>
          </a:xfrm>
          <a:prstGeom prst="rightArrow">
            <a:avLst/>
          </a:prstGeom>
          <a:solidFill>
            <a:srgbClr val="141414"/>
          </a:solidFill>
          <a:ln w="254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59" y="1920240"/>
            <a:ext cx="2286000" cy="82296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828800"/>
            <a:ext cx="2286000" cy="822960"/>
          </a:xfrm>
          <a:prstGeom prst="rect">
            <a:avLst/>
          </a:prstGeom>
          <a:solidFill>
            <a:srgbClr val="F2C14E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828800"/>
            <a:ext cx="22860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41414"/>
                </a:solidFill>
                <a:latin typeface="Courier New"/>
              </a:rPr>
              <a:t>sales_daily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549640" y="2057400"/>
            <a:ext cx="411480" cy="365760"/>
          </a:xfrm>
          <a:prstGeom prst="rightArrow">
            <a:avLst/>
          </a:prstGeom>
          <a:solidFill>
            <a:srgbClr val="141414"/>
          </a:solidFill>
          <a:ln w="254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1920240"/>
            <a:ext cx="2286000" cy="82296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2560" y="1828800"/>
            <a:ext cx="2286000" cy="822960"/>
          </a:xfrm>
          <a:prstGeom prst="rect">
            <a:avLst/>
          </a:prstGeom>
          <a:solidFill>
            <a:srgbClr val="EF7B63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1828800"/>
            <a:ext cx="22860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41414"/>
                </a:solidFill>
                <a:latin typeface="Courier New"/>
              </a:rPr>
              <a:t>dashboards / ML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017520"/>
            <a:ext cx="5486400" cy="15544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2926080"/>
            <a:ext cx="5486400" cy="1554480"/>
          </a:xfrm>
          <a:prstGeom prst="rect">
            <a:avLst/>
          </a:prstGeom>
          <a:solidFill>
            <a:srgbClr val="4B55C8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999232"/>
            <a:ext cx="530352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20" b="1">
                <a:solidFill>
                  <a:srgbClr val="FFFFFF"/>
                </a:solidFill>
                <a:latin typeface="Arial Black"/>
              </a:rPr>
              <a:t>← AMONT : CAUSE RACINE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410712"/>
            <a:ext cx="5303520" cy="102412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De la donnée erronée vers la source fautive.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59" y="3017520"/>
            <a:ext cx="5394960" cy="15544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2926080"/>
            <a:ext cx="5394960" cy="1554480"/>
          </a:xfrm>
          <a:prstGeom prst="rect">
            <a:avLst/>
          </a:prstGeom>
          <a:solidFill>
            <a:srgbClr val="EF7B63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59" y="2999232"/>
            <a:ext cx="521208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20" b="1">
                <a:solidFill>
                  <a:srgbClr val="141414"/>
                </a:solidFill>
                <a:latin typeface="Arial Black"/>
              </a:rPr>
              <a:t>AVAL : IMPACT 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3410712"/>
            <a:ext cx="5212080" cy="102412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41414"/>
                </a:solidFill>
                <a:latin typeface="Arial"/>
              </a:rPr>
              <a:t>Tables, dashboards, modèles touchés ; préventif et conformité (RGPD).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709160"/>
            <a:ext cx="1463040" cy="411480"/>
          </a:xfrm>
          <a:prstGeom prst="rect">
            <a:avLst/>
          </a:prstGeom>
          <a:solidFill>
            <a:srgbClr val="141414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5216" y="4727448"/>
            <a:ext cx="1389888" cy="37490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 Black"/>
              </a:rPr>
              <a:t>NIVEAU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11680" y="4709160"/>
            <a:ext cx="4754880" cy="411480"/>
          </a:xfrm>
          <a:prstGeom prst="rect">
            <a:avLst/>
          </a:prstGeom>
          <a:solidFill>
            <a:srgbClr val="141414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48256" y="4727448"/>
            <a:ext cx="4681728" cy="37490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 Black"/>
              </a:rPr>
              <a:t>CE QU'IL MONTRE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66560" y="4709160"/>
            <a:ext cx="4846320" cy="411480"/>
          </a:xfrm>
          <a:prstGeom prst="rect">
            <a:avLst/>
          </a:prstGeom>
          <a:solidFill>
            <a:srgbClr val="141414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03136" y="4727448"/>
            <a:ext cx="4773168" cy="37490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 Black"/>
              </a:rPr>
              <a:t>LIMITE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120640"/>
            <a:ext cx="1463040" cy="457200"/>
          </a:xfrm>
          <a:prstGeom prst="rect">
            <a:avLst/>
          </a:prstGeom>
          <a:solidFill>
            <a:srgbClr val="F2C14E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5216" y="5138928"/>
            <a:ext cx="1389888" cy="42062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41414"/>
                </a:solidFill>
                <a:latin typeface="Arial"/>
              </a:rPr>
              <a:t>Table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11680" y="5120640"/>
            <a:ext cx="4754880" cy="457200"/>
          </a:xfrm>
          <a:prstGeom prst="rect">
            <a:avLst/>
          </a:prstGeom>
          <a:solidFill>
            <a:srgbClr val="F6F1E7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48256" y="5138928"/>
            <a:ext cx="4681728" cy="42062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Arial"/>
              </a:rPr>
              <a:t>Quelle table alimente laquelle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66560" y="5120640"/>
            <a:ext cx="4846320" cy="457200"/>
          </a:xfrm>
          <a:prstGeom prst="rect">
            <a:avLst/>
          </a:prstGeom>
          <a:solidFill>
            <a:srgbClr val="F6F1E7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03136" y="5138928"/>
            <a:ext cx="4773168" cy="42062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Arial"/>
              </a:rPr>
              <a:t>Trop grossier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577840"/>
            <a:ext cx="1463040" cy="457200"/>
          </a:xfrm>
          <a:prstGeom prst="rect">
            <a:avLst/>
          </a:prstGeom>
          <a:solidFill>
            <a:srgbClr val="F2C14E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5216" y="5596128"/>
            <a:ext cx="1389888" cy="42062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41414"/>
                </a:solidFill>
                <a:latin typeface="Arial"/>
              </a:rPr>
              <a:t>Colonne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0" y="5577840"/>
            <a:ext cx="4754880" cy="457200"/>
          </a:xfrm>
          <a:prstGeom prst="rect">
            <a:avLst/>
          </a:prstGeom>
          <a:solidFill>
            <a:srgbClr val="F6F1E7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48256" y="5596128"/>
            <a:ext cx="4681728" cy="42062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Arial"/>
              </a:rPr>
              <a:t>Origine de chaque champ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66560" y="5577840"/>
            <a:ext cx="4846320" cy="457200"/>
          </a:xfrm>
          <a:prstGeom prst="rect">
            <a:avLst/>
          </a:prstGeom>
          <a:solidFill>
            <a:srgbClr val="F6F1E7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03136" y="5596128"/>
            <a:ext cx="4773168" cy="42062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Arial"/>
              </a:rPr>
              <a:t>Plus dur à collecter (SQL, plans)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126480"/>
            <a:ext cx="1115568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41414"/>
                </a:solidFill>
                <a:latin typeface="Courier New"/>
              </a:rPr>
              <a:t>COLLECTE : OpenLineage · analyse statique SQL · Marquez, DataHub, OpenMetadata, Unity Catalog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6510528"/>
            <a:ext cx="731520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6F1E7"/>
                </a:solidFill>
                <a:latin typeface="Courier New"/>
              </a:rPr>
              <a:t>FIABILITÉ DES PIPELINES BIG DATA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607040" y="6510528"/>
            <a:ext cx="1280160" cy="34747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607040" y="6510528"/>
            <a:ext cx="128016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41414"/>
                </a:solidFill>
                <a:latin typeface="Courier New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91440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2167128" cy="34747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2167128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6F1E7"/>
                </a:solidFill>
                <a:latin typeface="Courier New"/>
              </a:rPr>
              <a:t>Q3 · DIAGNOSTIQUER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31520"/>
            <a:ext cx="113385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41414"/>
                </a:solidFill>
                <a:latin typeface="Arial Black"/>
              </a:rPr>
              <a:t>L'OBSERVABILITÉ : DÉTECTER ET EXPLIQUER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74552" cy="128016"/>
          </a:xfrm>
          <a:prstGeom prst="rect">
            <a:avLst/>
          </a:prstGeom>
          <a:solidFill>
            <a:srgbClr val="4B55C8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2057400" cy="82296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2057400" cy="822960"/>
          </a:xfrm>
          <a:prstGeom prst="rect">
            <a:avLst/>
          </a:prstGeom>
          <a:solidFill>
            <a:srgbClr val="F2C14E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20574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41414"/>
                </a:solidFill>
                <a:latin typeface="Arial Black"/>
              </a:rPr>
              <a:t>FRAÎCHEUR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1920240"/>
            <a:ext cx="2057400" cy="82296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88920" y="1828800"/>
            <a:ext cx="2057400" cy="822960"/>
          </a:xfrm>
          <a:prstGeom prst="rect">
            <a:avLst/>
          </a:prstGeom>
          <a:solidFill>
            <a:srgbClr val="7FCDB5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1828800"/>
            <a:ext cx="20574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41414"/>
                </a:solidFill>
                <a:latin typeface="Arial Black"/>
              </a:rPr>
              <a:t>VOLUME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1920240"/>
            <a:ext cx="2057400" cy="82296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0" y="1828800"/>
            <a:ext cx="2057400" cy="822960"/>
          </a:xfrm>
          <a:prstGeom prst="rect">
            <a:avLst/>
          </a:prstGeom>
          <a:solidFill>
            <a:srgbClr val="4B55C8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1828800"/>
            <a:ext cx="20574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 Black"/>
              </a:rPr>
              <a:t>SCHÉMA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60920" y="1920240"/>
            <a:ext cx="2057400" cy="82296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69480" y="1828800"/>
            <a:ext cx="2057400" cy="822960"/>
          </a:xfrm>
          <a:prstGeom prst="rect">
            <a:avLst/>
          </a:prstGeom>
          <a:solidFill>
            <a:srgbClr val="EF7B63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828800"/>
            <a:ext cx="20574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41414"/>
                </a:solidFill>
                <a:latin typeface="Arial Black"/>
              </a:rPr>
              <a:t>DISTRIBUTION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0" y="1920240"/>
            <a:ext cx="2057400" cy="82296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09760" y="1828800"/>
            <a:ext cx="2057400" cy="822960"/>
          </a:xfrm>
          <a:prstGeom prst="rect">
            <a:avLst/>
          </a:prstGeom>
          <a:solidFill>
            <a:srgbClr val="F2C14E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0" y="1828800"/>
            <a:ext cx="20574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41414"/>
                </a:solidFill>
                <a:latin typeface="Arial Black"/>
              </a:rPr>
              <a:t>LIGNAGE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017520"/>
            <a:ext cx="4572000" cy="32918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2926080"/>
            <a:ext cx="4572000" cy="3291840"/>
          </a:xfrm>
          <a:prstGeom prst="rect">
            <a:avLst/>
          </a:prstGeom>
          <a:solidFill>
            <a:srgbClr val="F6F1E7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999232"/>
            <a:ext cx="438912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20" b="1">
                <a:solidFill>
                  <a:srgbClr val="141414"/>
                </a:solidFill>
                <a:latin typeface="Arial Black"/>
              </a:rPr>
              <a:t>SIGNAUX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410712"/>
            <a:ext cx="4389120" cy="276148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75" b="1">
                <a:solidFill>
                  <a:srgbClr val="141414"/>
                </a:solidFill>
                <a:latin typeface="Arial"/>
              </a:rPr>
              <a:t>Métriques</a:t>
            </a:r>
            <a:r>
              <a:rPr sz="1375" b="0">
                <a:solidFill>
                  <a:srgbClr val="141414"/>
                </a:solidFill>
                <a:latin typeface="Arial"/>
              </a:rPr>
              <a:t> : durée, débit, lag Kafka, CPU, skew.</a:t>
            </a:r>
          </a:p>
          <a:p>
            <a:pPr algn="l">
              <a:spcAft>
                <a:spcPts val="300"/>
              </a:spcAft>
            </a:pPr>
            <a:r>
              <a:rPr sz="1375" b="1">
                <a:solidFill>
                  <a:srgbClr val="141414"/>
                </a:solidFill>
                <a:latin typeface="Arial"/>
              </a:rPr>
              <a:t>Journaux structurés</a:t>
            </a:r>
            <a:r>
              <a:rPr sz="1375" b="0">
                <a:solidFill>
                  <a:srgbClr val="141414"/>
                </a:solidFill>
                <a:latin typeface="Arial"/>
              </a:rPr>
              <a:t> avec run_id.</a:t>
            </a:r>
          </a:p>
          <a:p>
            <a:pPr algn="l">
              <a:spcAft>
                <a:spcPts val="300"/>
              </a:spcAft>
            </a:pPr>
            <a:r>
              <a:rPr sz="1375" b="1">
                <a:solidFill>
                  <a:srgbClr val="141414"/>
                </a:solidFill>
                <a:latin typeface="Arial"/>
              </a:rPr>
              <a:t>Traces</a:t>
            </a:r>
            <a:r>
              <a:rPr sz="1375" b="0">
                <a:solidFill>
                  <a:srgbClr val="141414"/>
                </a:solidFill>
                <a:latin typeface="Arial"/>
              </a:rPr>
              <a:t> (OpenTelemetry).</a:t>
            </a:r>
          </a:p>
          <a:p>
            <a:pPr algn="l">
              <a:spcAft>
                <a:spcPts val="300"/>
              </a:spcAft>
            </a:pPr>
            <a:r>
              <a:rPr sz="1375" b="1">
                <a:solidFill>
                  <a:srgbClr val="141414"/>
                </a:solidFill>
                <a:latin typeface="Arial"/>
              </a:rPr>
              <a:t>Métadonnées</a:t>
            </a:r>
            <a:r>
              <a:rPr sz="1375" b="0">
                <a:solidFill>
                  <a:srgbClr val="141414"/>
                </a:solidFill>
                <a:latin typeface="Arial"/>
              </a:rPr>
              <a:t> : volume, fraîcheur, schéma.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94960" y="2926080"/>
            <a:ext cx="1280160" cy="548640"/>
          </a:xfrm>
          <a:prstGeom prst="rect">
            <a:avLst/>
          </a:prstGeom>
          <a:solidFill>
            <a:srgbClr val="141414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31536" y="2944368"/>
            <a:ext cx="1207007" cy="512063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</a:p>
        </p:txBody>
      </p:sp>
      <p:sp>
        <p:nvSpPr>
          <p:cNvPr id="28" name="Rectangle 27"/>
          <p:cNvSpPr/>
          <p:nvPr/>
        </p:nvSpPr>
        <p:spPr>
          <a:xfrm>
            <a:off x="6675120" y="2926080"/>
            <a:ext cx="2377440" cy="548640"/>
          </a:xfrm>
          <a:prstGeom prst="rect">
            <a:avLst/>
          </a:prstGeom>
          <a:solidFill>
            <a:srgbClr val="141414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11696" y="2944368"/>
            <a:ext cx="2304288" cy="512063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20" b="1">
                <a:solidFill>
                  <a:srgbClr val="FFFFFF"/>
                </a:solidFill>
                <a:latin typeface="Arial Black"/>
              </a:rPr>
              <a:t>MONITORING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52560" y="2926080"/>
            <a:ext cx="2651760" cy="548640"/>
          </a:xfrm>
          <a:prstGeom prst="rect">
            <a:avLst/>
          </a:prstGeom>
          <a:solidFill>
            <a:srgbClr val="141414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89136" y="2944368"/>
            <a:ext cx="2578608" cy="512063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20" b="1">
                <a:solidFill>
                  <a:srgbClr val="FFFFFF"/>
                </a:solidFill>
                <a:latin typeface="Arial Black"/>
              </a:rPr>
              <a:t>OBSERVABILITÉ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94960" y="3474720"/>
            <a:ext cx="1280160" cy="914400"/>
          </a:xfrm>
          <a:prstGeom prst="rect">
            <a:avLst/>
          </a:prstGeom>
          <a:solidFill>
            <a:srgbClr val="F2C14E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31536" y="3493008"/>
            <a:ext cx="1207007" cy="87782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20" b="1">
                <a:solidFill>
                  <a:srgbClr val="141414"/>
                </a:solidFill>
                <a:latin typeface="Arial"/>
              </a:rPr>
              <a:t>Question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3474720"/>
            <a:ext cx="2377440" cy="914400"/>
          </a:xfrm>
          <a:prstGeom prst="rect">
            <a:avLst/>
          </a:prstGeom>
          <a:solidFill>
            <a:srgbClr val="F6F1E7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11696" y="3493008"/>
            <a:ext cx="2304288" cy="87782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20" b="0">
                <a:solidFill>
                  <a:srgbClr val="141414"/>
                </a:solidFill>
                <a:latin typeface="Arial"/>
              </a:rPr>
              <a:t>Le job a-t-il réussi 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52560" y="3474720"/>
            <a:ext cx="2651760" cy="914400"/>
          </a:xfrm>
          <a:prstGeom prst="rect">
            <a:avLst/>
          </a:prstGeom>
          <a:solidFill>
            <a:srgbClr val="F6F1E7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89136" y="3493008"/>
            <a:ext cx="2578608" cy="87782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20" b="0">
                <a:solidFill>
                  <a:srgbClr val="141414"/>
                </a:solidFill>
                <a:latin typeface="Arial"/>
              </a:rPr>
              <a:t>Pourquoi les données sont fausses ?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94960" y="4389120"/>
            <a:ext cx="1280160" cy="914400"/>
          </a:xfrm>
          <a:prstGeom prst="rect">
            <a:avLst/>
          </a:prstGeom>
          <a:solidFill>
            <a:srgbClr val="F2C14E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31536" y="4407408"/>
            <a:ext cx="1207007" cy="87782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20" b="1">
                <a:solidFill>
                  <a:srgbClr val="141414"/>
                </a:solidFill>
                <a:latin typeface="Arial"/>
              </a:rPr>
              <a:t>Signal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75120" y="4389120"/>
            <a:ext cx="2377440" cy="914400"/>
          </a:xfrm>
          <a:prstGeom prst="rect">
            <a:avLst/>
          </a:prstGeom>
          <a:solidFill>
            <a:srgbClr val="F6F1E7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11696" y="4407408"/>
            <a:ext cx="2304288" cy="87782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20" b="0">
                <a:solidFill>
                  <a:srgbClr val="141414"/>
                </a:solidFill>
                <a:latin typeface="Arial"/>
              </a:rPr>
              <a:t>Succès / échec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52560" y="4389120"/>
            <a:ext cx="2651760" cy="914400"/>
          </a:xfrm>
          <a:prstGeom prst="rect">
            <a:avLst/>
          </a:prstGeom>
          <a:solidFill>
            <a:srgbClr val="F6F1E7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89136" y="4407408"/>
            <a:ext cx="2578608" cy="87782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20" b="0">
                <a:solidFill>
                  <a:srgbClr val="141414"/>
                </a:solidFill>
                <a:latin typeface="Arial"/>
              </a:rPr>
              <a:t>Signaux continus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94960" y="5303520"/>
            <a:ext cx="1280160" cy="914400"/>
          </a:xfrm>
          <a:prstGeom prst="rect">
            <a:avLst/>
          </a:prstGeom>
          <a:solidFill>
            <a:srgbClr val="F2C14E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31536" y="5321808"/>
            <a:ext cx="1207007" cy="87782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20" b="1">
                <a:solidFill>
                  <a:srgbClr val="141414"/>
                </a:solidFill>
                <a:latin typeface="Arial"/>
              </a:rPr>
              <a:t>Posture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75120" y="5303520"/>
            <a:ext cx="2377440" cy="914400"/>
          </a:xfrm>
          <a:prstGeom prst="rect">
            <a:avLst/>
          </a:prstGeom>
          <a:solidFill>
            <a:srgbClr val="F6F1E7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11696" y="5321808"/>
            <a:ext cx="2304288" cy="87782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20" b="0">
                <a:solidFill>
                  <a:srgbClr val="141414"/>
                </a:solidFill>
                <a:latin typeface="Arial"/>
              </a:rPr>
              <a:t>Réactive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52560" y="5303520"/>
            <a:ext cx="2651760" cy="914400"/>
          </a:xfrm>
          <a:prstGeom prst="rect">
            <a:avLst/>
          </a:prstGeom>
          <a:solidFill>
            <a:srgbClr val="F6F1E7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89136" y="5321808"/>
            <a:ext cx="2578608" cy="87782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20" b="0">
                <a:solidFill>
                  <a:srgbClr val="141414"/>
                </a:solidFill>
                <a:latin typeface="Arial"/>
              </a:rPr>
              <a:t>Proactive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6510528"/>
            <a:ext cx="731520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6F1E7"/>
                </a:solidFill>
                <a:latin typeface="Courier New"/>
              </a:rPr>
              <a:t>FIABILITÉ DES PIPELINES BIG DATA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607040" y="6510528"/>
            <a:ext cx="1280160" cy="34747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607040" y="6510528"/>
            <a:ext cx="128016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41414"/>
                </a:solidFill>
                <a:latin typeface="Courier New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91440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2167128" cy="34747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2167128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6F1E7"/>
                </a:solidFill>
                <a:latin typeface="Courier New"/>
              </a:rPr>
              <a:t>Q3 · DIAGNOSTIQUER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31520"/>
            <a:ext cx="113385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41414"/>
                </a:solidFill>
                <a:latin typeface="Arial Black"/>
              </a:rPr>
              <a:t>SCÉNARIO DE DIAGNOSTIC EN 5 ÉTAPES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74552" cy="128016"/>
          </a:xfrm>
          <a:prstGeom prst="rect">
            <a:avLst/>
          </a:prstGeom>
          <a:solidFill>
            <a:srgbClr val="4B55C8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920240"/>
            <a:ext cx="2103120" cy="2286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2103120" cy="2286000"/>
          </a:xfrm>
          <a:prstGeom prst="rect">
            <a:avLst/>
          </a:prstGeom>
          <a:solidFill>
            <a:srgbClr val="EF7B63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914400" cy="731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200" b="1">
                <a:solidFill>
                  <a:srgbClr val="141414"/>
                </a:solidFill>
                <a:latin typeface="Arial Black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60320"/>
            <a:ext cx="19202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41414"/>
                </a:solidFill>
                <a:latin typeface="Arial Black"/>
              </a:rPr>
              <a:t>DÉTECTION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26080"/>
            <a:ext cx="1920240" cy="1188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Arial"/>
              </a:rPr>
              <a:t>-60 % de volume sur sales_daily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1920240"/>
            <a:ext cx="2103120" cy="2286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88920" y="1828800"/>
            <a:ext cx="2103120" cy="2286000"/>
          </a:xfrm>
          <a:prstGeom prst="rect">
            <a:avLst/>
          </a:prstGeom>
          <a:solidFill>
            <a:srgbClr val="F2C14E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39" y="1828800"/>
            <a:ext cx="914400" cy="731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200" b="1">
                <a:solidFill>
                  <a:srgbClr val="141414"/>
                </a:solidFill>
                <a:latin typeface="Arial Black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560320"/>
            <a:ext cx="19202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41414"/>
                </a:solidFill>
                <a:latin typeface="Arial Black"/>
              </a:rPr>
              <a:t>LOCALISATION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926080"/>
            <a:ext cx="1920240" cy="1188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Arial"/>
              </a:rPr>
              <a:t>Lignage : sales_daily ← orders_clean ← orders_raw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66359" y="1920240"/>
            <a:ext cx="2103120" cy="2286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74920" y="1828800"/>
            <a:ext cx="2103120" cy="2286000"/>
          </a:xfrm>
          <a:prstGeom prst="rect">
            <a:avLst/>
          </a:prstGeom>
          <a:solidFill>
            <a:srgbClr val="4B55C8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1828800"/>
            <a:ext cx="914400" cy="731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200" b="1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59" y="2560320"/>
            <a:ext cx="19202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 Black"/>
              </a:rPr>
              <a:t>EXPLICATION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59" y="2926080"/>
            <a:ext cx="1920240" cy="1188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ingest_orders n'a lu que 40 % des fichiers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1920240"/>
            <a:ext cx="2103120" cy="2286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60920" y="1828800"/>
            <a:ext cx="2103120" cy="2286000"/>
          </a:xfrm>
          <a:prstGeom prst="rect">
            <a:avLst/>
          </a:prstGeom>
          <a:solidFill>
            <a:srgbClr val="7FCDB5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1828800"/>
            <a:ext cx="914400" cy="731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200" b="1">
                <a:solidFill>
                  <a:srgbClr val="141414"/>
                </a:solidFill>
                <a:latin typeface="Arial Black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2560320"/>
            <a:ext cx="19202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41414"/>
                </a:solidFill>
                <a:latin typeface="Arial Black"/>
              </a:rPr>
              <a:t>CAUSE RACINE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2926080"/>
            <a:ext cx="1920240" cy="1188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Arial"/>
              </a:rPr>
              <a:t>Colonne renommée la veille en amont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38360" y="1920240"/>
            <a:ext cx="2103120" cy="2286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46920" y="1828800"/>
            <a:ext cx="2103120" cy="2286000"/>
          </a:xfrm>
          <a:prstGeom prst="rect">
            <a:avLst/>
          </a:prstGeom>
          <a:solidFill>
            <a:srgbClr val="F2C14E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0" y="1828800"/>
            <a:ext cx="914400" cy="731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200" b="1">
                <a:solidFill>
                  <a:srgbClr val="141414"/>
                </a:solidFill>
                <a:latin typeface="Arial Black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8360" y="2560320"/>
            <a:ext cx="19202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41414"/>
                </a:solidFill>
                <a:latin typeface="Arial Black"/>
              </a:rPr>
              <a:t>IMPACT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360" y="2926080"/>
            <a:ext cx="1920240" cy="1188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Arial"/>
              </a:rPr>
              <a:t>3 dashboards + 1 modèle touchés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434840"/>
            <a:ext cx="5486400" cy="19202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343400"/>
            <a:ext cx="5486400" cy="1920240"/>
          </a:xfrm>
          <a:prstGeom prst="rect">
            <a:avLst/>
          </a:prstGeom>
          <a:solidFill>
            <a:srgbClr val="7FCDB5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416552"/>
            <a:ext cx="530352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20" b="1">
                <a:solidFill>
                  <a:srgbClr val="141414"/>
                </a:solidFill>
                <a:latin typeface="Arial Black"/>
              </a:rPr>
              <a:t>AVEC AIRFLOW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828032"/>
            <a:ext cx="5303520" cy="138988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75" b="0">
                <a:solidFill>
                  <a:srgbClr val="141414"/>
                </a:solidFill>
                <a:latin typeface="Arial"/>
              </a:rPr>
              <a:t>OpenLineage provider, Assets (Datasets), StatsD / OTel vers Prometheus + Grafana, run_id commun.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59" y="4434840"/>
            <a:ext cx="5394960" cy="19202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4343400"/>
            <a:ext cx="5394960" cy="1920240"/>
          </a:xfrm>
          <a:prstGeom prst="rect">
            <a:avLst/>
          </a:prstGeom>
          <a:solidFill>
            <a:srgbClr val="EF7B63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59" y="4416552"/>
            <a:ext cx="521208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20" b="1">
                <a:solidFill>
                  <a:srgbClr val="141414"/>
                </a:solidFill>
                <a:latin typeface="Arial Black"/>
              </a:rPr>
              <a:t>LIMITES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59" y="4828032"/>
            <a:ext cx="5212080" cy="138988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75" b="0">
                <a:solidFill>
                  <a:srgbClr val="141414"/>
                </a:solidFill>
                <a:latin typeface="Arial"/>
              </a:rPr>
              <a:t>Couverture incomplète, bruit d'alertes, détection ≠ correction, métadonnées obsolètes.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510528"/>
            <a:ext cx="731520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6F1E7"/>
                </a:solidFill>
                <a:latin typeface="Courier New"/>
              </a:rPr>
              <a:t>FIABILITÉ DES PIPELINES BIG DATA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607040" y="6510528"/>
            <a:ext cx="1280160" cy="34747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607040" y="6510528"/>
            <a:ext cx="128016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41414"/>
                </a:solidFill>
                <a:latin typeface="Courier New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91440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746504" cy="34747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746504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6F1E7"/>
                </a:solidFill>
                <a:latin typeface="Courier New"/>
              </a:rPr>
              <a:t>Q4 · COMPLÉTER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31520"/>
            <a:ext cx="113385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41414"/>
                </a:solidFill>
                <a:latin typeface="Arial Black"/>
              </a:rPr>
              <a:t>QUELLES SONT LES LIMITES DES MÉCANISMES DE RETRIES 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74552" cy="128016"/>
          </a:xfrm>
          <a:prstGeom prst="rect">
            <a:avLst/>
          </a:prstGeom>
          <a:solidFill>
            <a:srgbClr val="EF7B63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5486400" cy="173736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486400" cy="1737360"/>
          </a:xfrm>
          <a:prstGeom prst="rect">
            <a:avLst/>
          </a:prstGeom>
          <a:solidFill>
            <a:srgbClr val="7FCDB5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01952"/>
            <a:ext cx="530352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10" b="1">
                <a:solidFill>
                  <a:srgbClr val="141414"/>
                </a:solidFill>
                <a:latin typeface="Arial Black"/>
              </a:rPr>
              <a:t>EFFICACES CONTRE LES PANNES TRANSITOIRES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13432"/>
            <a:ext cx="5303520" cy="120700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41414"/>
                </a:solidFill>
                <a:latin typeface="Arial"/>
              </a:rPr>
              <a:t>Coupure brève, timeout ponctuel, service surchargé, worker perdu.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79" y="1920240"/>
            <a:ext cx="5394960" cy="173736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828800"/>
            <a:ext cx="5394960" cy="1737360"/>
          </a:xfrm>
          <a:prstGeom prst="rect">
            <a:avLst/>
          </a:prstGeom>
          <a:solidFill>
            <a:srgbClr val="F2C14E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79" y="1901952"/>
            <a:ext cx="521208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20" b="1">
                <a:solidFill>
                  <a:srgbClr val="141414"/>
                </a:solidFill>
                <a:latin typeface="Arial Black"/>
              </a:rPr>
              <a:t>FORMULE DU DÉLAI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79" y="2313432"/>
            <a:ext cx="5212080" cy="120700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25" b="1">
                <a:solidFill>
                  <a:srgbClr val="141414"/>
                </a:solidFill>
                <a:latin typeface="Arial"/>
              </a:rPr>
              <a:t>délai = min(délai_max, base × 2ⁿ) + aléa</a:t>
            </a:r>
          </a:p>
          <a:p>
            <a:pPr algn="l">
              <a:spcAft>
                <a:spcPts val="300"/>
              </a:spcAft>
            </a:pPr>
            <a:r>
              <a:rPr sz="1625" b="0">
                <a:solidFill>
                  <a:srgbClr val="141414"/>
                </a:solidFill>
                <a:latin typeface="Arial"/>
              </a:rPr>
              <a:t>n = numéro de la tentative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49039"/>
            <a:ext cx="822960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41414"/>
                </a:solidFill>
                <a:latin typeface="Courier New"/>
              </a:rPr>
              <a:t>&gt; RETRY STORM : 1 REQUÊTE → 27 APPELS (3 × 3 × 3)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297679"/>
            <a:ext cx="914400" cy="10972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206240"/>
            <a:ext cx="914400" cy="1097280"/>
          </a:xfrm>
          <a:prstGeom prst="rect">
            <a:avLst/>
          </a:prstGeom>
          <a:solidFill>
            <a:srgbClr val="F6F1E7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914400" cy="10972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3600" b="1">
                <a:solidFill>
                  <a:srgbClr val="141414"/>
                </a:solidFill>
                <a:latin typeface="Arial Black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4560" y="4297679"/>
            <a:ext cx="1463040" cy="10972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03120" y="4206240"/>
            <a:ext cx="1463040" cy="1097280"/>
          </a:xfrm>
          <a:prstGeom prst="rect">
            <a:avLst/>
          </a:prstGeom>
          <a:solidFill>
            <a:srgbClr val="F2C14E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03120" y="4206240"/>
            <a:ext cx="1463040" cy="10972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3600" b="1">
                <a:solidFill>
                  <a:srgbClr val="141414"/>
                </a:solidFill>
                <a:latin typeface="Arial Black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79" y="4297679"/>
            <a:ext cx="2011680" cy="10972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06240" y="4206240"/>
            <a:ext cx="2011680" cy="1097280"/>
          </a:xfrm>
          <a:prstGeom prst="rect">
            <a:avLst/>
          </a:prstGeom>
          <a:solidFill>
            <a:srgbClr val="7FCDB5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4206240"/>
            <a:ext cx="2011680" cy="10972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3600" b="1">
                <a:solidFill>
                  <a:srgbClr val="141414"/>
                </a:solidFill>
                <a:latin typeface="Arial Black"/>
              </a:rPr>
              <a:t>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0" y="4297679"/>
            <a:ext cx="2743200" cy="10972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0" y="4206240"/>
            <a:ext cx="2743200" cy="1097280"/>
          </a:xfrm>
          <a:prstGeom prst="rect">
            <a:avLst/>
          </a:prstGeom>
          <a:solidFill>
            <a:srgbClr val="EF7B63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4206240"/>
            <a:ext cx="2743200" cy="10972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3600" b="1">
                <a:solidFill>
                  <a:srgbClr val="141414"/>
                </a:solidFill>
                <a:latin typeface="Arial Black"/>
              </a:rPr>
              <a:t>27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1508760" y="4572000"/>
            <a:ext cx="457200" cy="365760"/>
          </a:xfrm>
          <a:prstGeom prst="rightArrow">
            <a:avLst/>
          </a:prstGeom>
          <a:solidFill>
            <a:srgbClr val="141414"/>
          </a:solidFill>
          <a:ln w="254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3611880" y="4572000"/>
            <a:ext cx="457200" cy="365760"/>
          </a:xfrm>
          <a:prstGeom prst="rightArrow">
            <a:avLst/>
          </a:prstGeom>
          <a:solidFill>
            <a:srgbClr val="141414"/>
          </a:solidFill>
          <a:ln w="254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ght Arrow 29"/>
          <p:cNvSpPr/>
          <p:nvPr/>
        </p:nvSpPr>
        <p:spPr>
          <a:xfrm>
            <a:off x="6263640" y="4572000"/>
            <a:ext cx="457200" cy="365760"/>
          </a:xfrm>
          <a:prstGeom prst="rightArrow">
            <a:avLst/>
          </a:prstGeom>
          <a:solidFill>
            <a:srgbClr val="141414"/>
          </a:solidFill>
          <a:ln w="254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532120"/>
            <a:ext cx="11155680" cy="731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41414"/>
                </a:solidFill>
                <a:latin typeface="Arial"/>
              </a:rPr>
              <a:t>Parade : jitter, limitation de débit, circuit breakers, retries limités à une seule couche.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510528"/>
            <a:ext cx="731520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6F1E7"/>
                </a:solidFill>
                <a:latin typeface="Courier New"/>
              </a:rPr>
              <a:t>FIABILITÉ DES PIPELINES BIG DATA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07040" y="6510528"/>
            <a:ext cx="1280160" cy="34747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07040" y="6510528"/>
            <a:ext cx="128016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41414"/>
                </a:solidFill>
                <a:latin typeface="Courier New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91440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746504" cy="34747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746504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6F1E7"/>
                </a:solidFill>
                <a:latin typeface="Courier New"/>
              </a:rPr>
              <a:t>Q4 · COMPLÉTER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31520"/>
            <a:ext cx="113385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41414"/>
                </a:solidFill>
                <a:latin typeface="Arial Black"/>
              </a:rPr>
              <a:t>LES 8 LIMITES DES RETRIES ET LEUR PARADE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74552" cy="128016"/>
          </a:xfrm>
          <a:prstGeom prst="rect">
            <a:avLst/>
          </a:prstGeom>
          <a:solidFill>
            <a:srgbClr val="EF7B63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2651760" cy="20116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2651760" cy="2011680"/>
          </a:xfrm>
          <a:prstGeom prst="rect">
            <a:avLst/>
          </a:prstGeom>
          <a:solidFill>
            <a:srgbClr val="EF7B63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01952"/>
            <a:ext cx="2468879" cy="6400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41414"/>
                </a:solidFill>
                <a:latin typeface="Arial Black"/>
              </a:rPr>
              <a:t>1 · ERREUR DÉTERMINISTE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42032"/>
            <a:ext cx="2468879" cy="125272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75" b="1">
                <a:solidFill>
                  <a:srgbClr val="141414"/>
                </a:solidFill>
                <a:latin typeface="Arial"/>
              </a:rPr>
              <a:t>Problème</a:t>
            </a:r>
            <a:r>
              <a:rPr sz="1375" b="0">
                <a:solidFill>
                  <a:srgbClr val="141414"/>
                </a:solidFill>
                <a:latin typeface="Arial"/>
              </a:rPr>
              <a:t> : Échoue à chaque fois</a:t>
            </a:r>
          </a:p>
          <a:p>
            <a:pPr algn="l">
              <a:spcAft>
                <a:spcPts val="300"/>
              </a:spcAft>
            </a:pPr>
            <a:r>
              <a:rPr sz="1375" b="1">
                <a:solidFill>
                  <a:srgbClr val="141414"/>
                </a:solidFill>
                <a:latin typeface="Arial"/>
              </a:rPr>
              <a:t>Parade</a:t>
            </a:r>
            <a:r>
              <a:rPr sz="1375" b="0">
                <a:solidFill>
                  <a:srgbClr val="141414"/>
                </a:solidFill>
                <a:latin typeface="Arial"/>
              </a:rPr>
              <a:t> : Classifier ; AirflowFailException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920240"/>
            <a:ext cx="2651760" cy="20116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828800"/>
            <a:ext cx="2651760" cy="2011680"/>
          </a:xfrm>
          <a:prstGeom prst="rect">
            <a:avLst/>
          </a:prstGeom>
          <a:solidFill>
            <a:srgbClr val="F2C14E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901952"/>
            <a:ext cx="246887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41414"/>
                </a:solidFill>
                <a:latin typeface="Arial Black"/>
              </a:rPr>
              <a:t>2 · NON-IDEMPOTENCE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313432"/>
            <a:ext cx="2468879" cy="148132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75" b="1">
                <a:solidFill>
                  <a:srgbClr val="141414"/>
                </a:solidFill>
                <a:latin typeface="Arial"/>
              </a:rPr>
              <a:t>Problème</a:t>
            </a:r>
            <a:r>
              <a:rPr sz="1375" b="0">
                <a:solidFill>
                  <a:srgbClr val="141414"/>
                </a:solidFill>
                <a:latin typeface="Arial"/>
              </a:rPr>
              <a:t> : Doublons, écritures partielles</a:t>
            </a:r>
          </a:p>
          <a:p>
            <a:pPr algn="l">
              <a:spcAft>
                <a:spcPts val="300"/>
              </a:spcAft>
            </a:pPr>
            <a:r>
              <a:rPr sz="1375" b="1">
                <a:solidFill>
                  <a:srgbClr val="141414"/>
                </a:solidFill>
                <a:latin typeface="Arial"/>
              </a:rPr>
              <a:t>Parade</a:t>
            </a:r>
            <a:r>
              <a:rPr sz="1375" b="0">
                <a:solidFill>
                  <a:srgbClr val="141414"/>
                </a:solidFill>
                <a:latin typeface="Arial"/>
              </a:rPr>
              <a:t> : OVERWRITE, MERGE, commit atomique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59" y="1920240"/>
            <a:ext cx="2651760" cy="20116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828800"/>
            <a:ext cx="2651760" cy="2011680"/>
          </a:xfrm>
          <a:prstGeom prst="rect">
            <a:avLst/>
          </a:prstGeom>
          <a:solidFill>
            <a:srgbClr val="7FCDB5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59" y="1901952"/>
            <a:ext cx="246887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41414"/>
                </a:solidFill>
                <a:latin typeface="Arial Black"/>
              </a:rPr>
              <a:t>3 · RETRY STORM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2313432"/>
            <a:ext cx="2468879" cy="148132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75" b="1">
                <a:solidFill>
                  <a:srgbClr val="141414"/>
                </a:solidFill>
                <a:latin typeface="Arial"/>
              </a:rPr>
              <a:t>Problème</a:t>
            </a:r>
            <a:r>
              <a:rPr sz="1375" b="0">
                <a:solidFill>
                  <a:srgbClr val="141414"/>
                </a:solidFill>
                <a:latin typeface="Arial"/>
              </a:rPr>
              <a:t> : Aggrave la panne</a:t>
            </a:r>
          </a:p>
          <a:p>
            <a:pPr algn="l">
              <a:spcAft>
                <a:spcPts val="300"/>
              </a:spcAft>
            </a:pPr>
            <a:r>
              <a:rPr sz="1375" b="1">
                <a:solidFill>
                  <a:srgbClr val="141414"/>
                </a:solidFill>
                <a:latin typeface="Arial"/>
              </a:rPr>
              <a:t>Parade</a:t>
            </a:r>
            <a:r>
              <a:rPr sz="1375" b="0">
                <a:solidFill>
                  <a:srgbClr val="141414"/>
                </a:solidFill>
                <a:latin typeface="Arial"/>
              </a:rPr>
              <a:t> : Jitter, circuit breaker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920240"/>
            <a:ext cx="2651760" cy="20116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2560" y="1828800"/>
            <a:ext cx="2651760" cy="2011680"/>
          </a:xfrm>
          <a:prstGeom prst="rect">
            <a:avLst/>
          </a:prstGeom>
          <a:solidFill>
            <a:srgbClr val="F2C14E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1901952"/>
            <a:ext cx="246887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41414"/>
                </a:solidFill>
                <a:latin typeface="Arial Black"/>
              </a:rPr>
              <a:t>4 · PANNE DURABLE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313432"/>
            <a:ext cx="2468879" cy="148132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75" b="1">
                <a:solidFill>
                  <a:srgbClr val="141414"/>
                </a:solidFill>
                <a:latin typeface="Arial"/>
              </a:rPr>
              <a:t>Problème</a:t>
            </a:r>
            <a:r>
              <a:rPr sz="1375" b="0">
                <a:solidFill>
                  <a:srgbClr val="141414"/>
                </a:solidFill>
                <a:latin typeface="Arial"/>
              </a:rPr>
              <a:t> : Budget épuisé</a:t>
            </a:r>
          </a:p>
          <a:p>
            <a:pPr algn="l">
              <a:spcAft>
                <a:spcPts val="300"/>
              </a:spcAft>
            </a:pPr>
            <a:r>
              <a:rPr sz="1375" b="1">
                <a:solidFill>
                  <a:srgbClr val="141414"/>
                </a:solidFill>
                <a:latin typeface="Arial"/>
              </a:rPr>
              <a:t>Parade</a:t>
            </a:r>
            <a:r>
              <a:rPr sz="1375" b="0">
                <a:solidFill>
                  <a:srgbClr val="141414"/>
                </a:solidFill>
                <a:latin typeface="Arial"/>
              </a:rPr>
              <a:t> : Alertes, sensors reschedule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160520"/>
            <a:ext cx="2651760" cy="20116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069080"/>
            <a:ext cx="2651760" cy="2011680"/>
          </a:xfrm>
          <a:prstGeom prst="rect">
            <a:avLst/>
          </a:prstGeom>
          <a:solidFill>
            <a:srgbClr val="EF7B63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142232"/>
            <a:ext cx="246887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41414"/>
                </a:solidFill>
                <a:latin typeface="Arial Black"/>
              </a:rPr>
              <a:t>5 · ÉCHEC SILENCIEUX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553712"/>
            <a:ext cx="2468879" cy="148132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75" b="1">
                <a:solidFill>
                  <a:srgbClr val="141414"/>
                </a:solidFill>
                <a:latin typeface="Arial"/>
              </a:rPr>
              <a:t>Problème</a:t>
            </a:r>
            <a:r>
              <a:rPr sz="1375" b="0">
                <a:solidFill>
                  <a:srgbClr val="141414"/>
                </a:solidFill>
                <a:latin typeface="Arial"/>
              </a:rPr>
              <a:t> : Vert mais faux</a:t>
            </a:r>
          </a:p>
          <a:p>
            <a:pPr algn="l">
              <a:spcAft>
                <a:spcPts val="300"/>
              </a:spcAft>
            </a:pPr>
            <a:r>
              <a:rPr sz="1375" b="1">
                <a:solidFill>
                  <a:srgbClr val="141414"/>
                </a:solidFill>
                <a:latin typeface="Arial"/>
              </a:rPr>
              <a:t>Parade</a:t>
            </a:r>
            <a:r>
              <a:rPr sz="1375" b="0">
                <a:solidFill>
                  <a:srgbClr val="141414"/>
                </a:solidFill>
                <a:latin typeface="Arial"/>
              </a:rPr>
              <a:t> : Quality gates bloquantes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0" y="4160520"/>
            <a:ext cx="2651760" cy="20116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83280" y="4069080"/>
            <a:ext cx="2651760" cy="2011680"/>
          </a:xfrm>
          <a:prstGeom prst="rect">
            <a:avLst/>
          </a:prstGeom>
          <a:solidFill>
            <a:srgbClr val="7FCDB5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0" y="4142232"/>
            <a:ext cx="246887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41414"/>
                </a:solidFill>
                <a:latin typeface="Arial Black"/>
              </a:rPr>
              <a:t>6 · COÛT &amp; LATENCE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4553712"/>
            <a:ext cx="2468879" cy="148132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75" b="1">
                <a:solidFill>
                  <a:srgbClr val="141414"/>
                </a:solidFill>
                <a:latin typeface="Arial"/>
              </a:rPr>
              <a:t>Problème</a:t>
            </a:r>
            <a:r>
              <a:rPr sz="1375" b="0">
                <a:solidFill>
                  <a:srgbClr val="141414"/>
                </a:solidFill>
                <a:latin typeface="Arial"/>
              </a:rPr>
              <a:t> : Recalcul d'heures</a:t>
            </a:r>
          </a:p>
          <a:p>
            <a:pPr algn="l">
              <a:spcAft>
                <a:spcPts val="300"/>
              </a:spcAft>
            </a:pPr>
            <a:r>
              <a:rPr sz="1375" b="1">
                <a:solidFill>
                  <a:srgbClr val="141414"/>
                </a:solidFill>
                <a:latin typeface="Arial"/>
              </a:rPr>
              <a:t>Parade</a:t>
            </a:r>
            <a:r>
              <a:rPr sz="1375" b="0">
                <a:solidFill>
                  <a:srgbClr val="141414"/>
                </a:solidFill>
                <a:latin typeface="Arial"/>
              </a:rPr>
              <a:t> : Checkpoints, petites tâches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59" y="4160520"/>
            <a:ext cx="2651760" cy="20116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4069080"/>
            <a:ext cx="2651760" cy="2011680"/>
          </a:xfrm>
          <a:prstGeom prst="rect">
            <a:avLst/>
          </a:prstGeom>
          <a:solidFill>
            <a:srgbClr val="F2C14E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59" y="4142232"/>
            <a:ext cx="246887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41414"/>
                </a:solidFill>
                <a:latin typeface="Arial Black"/>
              </a:rPr>
              <a:t>7 · STREAMING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59" y="4553712"/>
            <a:ext cx="2468879" cy="148132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75" b="1">
                <a:solidFill>
                  <a:srgbClr val="141414"/>
                </a:solidFill>
                <a:latin typeface="Arial"/>
              </a:rPr>
              <a:t>Problème</a:t>
            </a:r>
            <a:r>
              <a:rPr sz="1375" b="0">
                <a:solidFill>
                  <a:srgbClr val="141414"/>
                </a:solidFill>
                <a:latin typeface="Arial"/>
              </a:rPr>
              <a:t> : Doubles livraisons</a:t>
            </a:r>
          </a:p>
          <a:p>
            <a:pPr algn="l">
              <a:spcAft>
                <a:spcPts val="300"/>
              </a:spcAft>
            </a:pPr>
            <a:r>
              <a:rPr sz="1375" b="1">
                <a:solidFill>
                  <a:srgbClr val="141414"/>
                </a:solidFill>
                <a:latin typeface="Arial"/>
              </a:rPr>
              <a:t>Parade</a:t>
            </a:r>
            <a:r>
              <a:rPr sz="1375" b="0">
                <a:solidFill>
                  <a:srgbClr val="141414"/>
                </a:solidFill>
                <a:latin typeface="Arial"/>
              </a:rPr>
              <a:t> : Sinks idempotents, dédup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0" y="4160520"/>
            <a:ext cx="2651760" cy="20116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52560" y="4069080"/>
            <a:ext cx="2651760" cy="2011680"/>
          </a:xfrm>
          <a:prstGeom prst="rect">
            <a:avLst/>
          </a:prstGeom>
          <a:solidFill>
            <a:srgbClr val="EF7B63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0" y="4142232"/>
            <a:ext cx="246887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41414"/>
                </a:solidFill>
                <a:latin typeface="Arial Black"/>
              </a:rPr>
              <a:t>8 · PAS DE CORRECTION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553712"/>
            <a:ext cx="2468879" cy="148132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75" b="1">
                <a:solidFill>
                  <a:srgbClr val="141414"/>
                </a:solidFill>
                <a:latin typeface="Arial"/>
              </a:rPr>
              <a:t>Problème</a:t>
            </a:r>
            <a:r>
              <a:rPr sz="1375" b="0">
                <a:solidFill>
                  <a:srgbClr val="141414"/>
                </a:solidFill>
                <a:latin typeface="Arial"/>
              </a:rPr>
              <a:t> : Problème différé</a:t>
            </a:r>
          </a:p>
          <a:p>
            <a:pPr algn="l">
              <a:spcAft>
                <a:spcPts val="300"/>
              </a:spcAft>
            </a:pPr>
            <a:r>
              <a:rPr sz="1375" b="1">
                <a:solidFill>
                  <a:srgbClr val="141414"/>
                </a:solidFill>
                <a:latin typeface="Arial"/>
              </a:rPr>
              <a:t>Parade</a:t>
            </a:r>
            <a:r>
              <a:rPr sz="1375" b="0">
                <a:solidFill>
                  <a:srgbClr val="141414"/>
                </a:solidFill>
                <a:latin typeface="Arial"/>
              </a:rPr>
              <a:t> : DLQ, rejeu après correction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510528"/>
            <a:ext cx="731520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6F1E7"/>
                </a:solidFill>
                <a:latin typeface="Courier New"/>
              </a:rPr>
              <a:t>FIABILITÉ DES PIPELINES BIG DATA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607040" y="6510528"/>
            <a:ext cx="1280160" cy="34747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607040" y="6510528"/>
            <a:ext cx="128016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41414"/>
                </a:solidFill>
                <a:latin typeface="Courier New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91440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746504" cy="34747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746504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6F1E7"/>
                </a:solidFill>
                <a:latin typeface="Courier New"/>
              </a:rPr>
              <a:t>Q4 · COMPLÉTER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31520"/>
            <a:ext cx="113385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41414"/>
                </a:solidFill>
                <a:latin typeface="Arial Black"/>
              </a:rPr>
              <a:t>MÉCANISMES COMPLÉMENTAIRES : LE FILET DE SÉCURITÉ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74552" cy="128016"/>
          </a:xfrm>
          <a:prstGeom prst="rect">
            <a:avLst/>
          </a:prstGeom>
          <a:solidFill>
            <a:srgbClr val="EF7B63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920240"/>
            <a:ext cx="2103120" cy="21031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2103120" cy="2103120"/>
          </a:xfrm>
          <a:prstGeom prst="rect">
            <a:avLst/>
          </a:prstGeom>
          <a:solidFill>
            <a:srgbClr val="F2C14E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1952"/>
            <a:ext cx="192023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41414"/>
                </a:solidFill>
                <a:latin typeface="Arial Black"/>
              </a:rPr>
              <a:t>DEAD-LETTER QUEUES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1920239" cy="157276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41414"/>
                </a:solidFill>
                <a:latin typeface="Arial"/>
              </a:rPr>
              <a:t>Isoler les enregistrements toxiques.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360" y="1920240"/>
            <a:ext cx="2103120" cy="21031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88920" y="1828800"/>
            <a:ext cx="2103120" cy="2103120"/>
          </a:xfrm>
          <a:prstGeom prst="rect">
            <a:avLst/>
          </a:prstGeom>
          <a:solidFill>
            <a:srgbClr val="7FCDB5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1901952"/>
            <a:ext cx="192023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41414"/>
                </a:solidFill>
                <a:latin typeface="Arial Black"/>
              </a:rPr>
              <a:t>CIRCUIT BREAKERS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313432"/>
            <a:ext cx="1920239" cy="157276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41414"/>
                </a:solidFill>
                <a:latin typeface="Arial"/>
              </a:rPr>
              <a:t>Suspendre les appels vers un service défaillant.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66359" y="1920240"/>
            <a:ext cx="2103120" cy="21031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74920" y="1828800"/>
            <a:ext cx="2103120" cy="2103120"/>
          </a:xfrm>
          <a:prstGeom prst="rect">
            <a:avLst/>
          </a:prstGeom>
          <a:solidFill>
            <a:srgbClr val="4B55C8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6359" y="1901952"/>
            <a:ext cx="192023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 Black"/>
              </a:rPr>
              <a:t>QUARANTAINE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59" y="2313432"/>
            <a:ext cx="1920239" cy="157276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Écarter les lots suspects.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60" y="1920240"/>
            <a:ext cx="2103120" cy="21031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60920" y="1828800"/>
            <a:ext cx="2103120" cy="2103120"/>
          </a:xfrm>
          <a:prstGeom prst="rect">
            <a:avLst/>
          </a:prstGeom>
          <a:solidFill>
            <a:srgbClr val="EF7B63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1901952"/>
            <a:ext cx="192023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41414"/>
                </a:solidFill>
                <a:latin typeface="Arial Black"/>
              </a:rPr>
              <a:t>BACKFILL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2313432"/>
            <a:ext cx="1920239" cy="157276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41414"/>
                </a:solidFill>
                <a:latin typeface="Arial"/>
              </a:rPr>
              <a:t>Rejeu après correction.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38360" y="1920240"/>
            <a:ext cx="2103120" cy="21031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46920" y="1828800"/>
            <a:ext cx="2103120" cy="2103120"/>
          </a:xfrm>
          <a:prstGeom prst="rect">
            <a:avLst/>
          </a:prstGeom>
          <a:solidFill>
            <a:srgbClr val="F2C14E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38360" y="1901952"/>
            <a:ext cx="192023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41414"/>
                </a:solidFill>
                <a:latin typeface="Arial Black"/>
              </a:rPr>
              <a:t>ALERTES SLA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2313432"/>
            <a:ext cx="1920239" cy="157276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41414"/>
                </a:solidFill>
                <a:latin typeface="Arial"/>
              </a:rPr>
              <a:t>Escalade humaine.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206240"/>
            <a:ext cx="2926080" cy="502920"/>
          </a:xfrm>
          <a:prstGeom prst="rect">
            <a:avLst/>
          </a:prstGeom>
          <a:solidFill>
            <a:srgbClr val="141414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16" y="4224527"/>
            <a:ext cx="2852928" cy="46634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 Black"/>
              </a:rPr>
              <a:t>LIMITE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0" y="4206240"/>
            <a:ext cx="4206240" cy="502920"/>
          </a:xfrm>
          <a:prstGeom prst="rect">
            <a:avLst/>
          </a:prstGeom>
          <a:solidFill>
            <a:srgbClr val="141414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11296" y="4224527"/>
            <a:ext cx="4133087" cy="46634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 Black"/>
              </a:rPr>
              <a:t>CONSÉQUENCE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60" y="4206240"/>
            <a:ext cx="3931920" cy="502920"/>
          </a:xfrm>
          <a:prstGeom prst="rect">
            <a:avLst/>
          </a:prstGeom>
          <a:solidFill>
            <a:srgbClr val="141414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17536" y="4224527"/>
            <a:ext cx="3858768" cy="46634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 Black"/>
              </a:rPr>
              <a:t>COMPLÉMENT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709159"/>
            <a:ext cx="2926080" cy="502920"/>
          </a:xfrm>
          <a:prstGeom prst="rect">
            <a:avLst/>
          </a:prstGeom>
          <a:solidFill>
            <a:srgbClr val="F2C14E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5216" y="4727447"/>
            <a:ext cx="2852928" cy="46634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41414"/>
                </a:solidFill>
                <a:latin typeface="Arial"/>
              </a:rPr>
              <a:t>Erreur déterministe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74720" y="4709159"/>
            <a:ext cx="4206240" cy="502920"/>
          </a:xfrm>
          <a:prstGeom prst="rect">
            <a:avLst/>
          </a:prstGeom>
          <a:solidFill>
            <a:srgbClr val="F6F1E7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11296" y="4727447"/>
            <a:ext cx="4133087" cy="46634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Arial"/>
              </a:rPr>
              <a:t>Échecs répétés, ressources gaspillées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80960" y="4709159"/>
            <a:ext cx="3931920" cy="502920"/>
          </a:xfrm>
          <a:prstGeom prst="rect">
            <a:avLst/>
          </a:prstGeom>
          <a:solidFill>
            <a:srgbClr val="F6F1E7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17536" y="4727447"/>
            <a:ext cx="3858768" cy="46634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Arial"/>
              </a:rPr>
              <a:t>Classification, échec immédiat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212079"/>
            <a:ext cx="2926080" cy="502920"/>
          </a:xfrm>
          <a:prstGeom prst="rect">
            <a:avLst/>
          </a:prstGeom>
          <a:solidFill>
            <a:srgbClr val="F2C14E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5216" y="5230367"/>
            <a:ext cx="2852928" cy="46634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41414"/>
                </a:solidFill>
                <a:latin typeface="Arial"/>
              </a:rPr>
              <a:t>Succès silencieux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74720" y="5212079"/>
            <a:ext cx="4206240" cy="502920"/>
          </a:xfrm>
          <a:prstGeom prst="rect">
            <a:avLst/>
          </a:prstGeom>
          <a:solidFill>
            <a:srgbClr val="F6F1E7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11296" y="5230367"/>
            <a:ext cx="4133087" cy="46634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Arial"/>
              </a:rPr>
              <a:t>Données fausses publiées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80960" y="5212079"/>
            <a:ext cx="3931920" cy="502920"/>
          </a:xfrm>
          <a:prstGeom prst="rect">
            <a:avLst/>
          </a:prstGeom>
          <a:solidFill>
            <a:srgbClr val="F6F1E7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17536" y="5230367"/>
            <a:ext cx="3858768" cy="46634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Arial"/>
              </a:rPr>
              <a:t>Quality gates bloquantes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714999"/>
            <a:ext cx="2926080" cy="502920"/>
          </a:xfrm>
          <a:prstGeom prst="rect">
            <a:avLst/>
          </a:prstGeom>
          <a:solidFill>
            <a:srgbClr val="F2C14E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5216" y="5733287"/>
            <a:ext cx="2852928" cy="46634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41414"/>
                </a:solidFill>
                <a:latin typeface="Arial"/>
              </a:rPr>
              <a:t>Aucune correction de fond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74720" y="5714999"/>
            <a:ext cx="4206240" cy="502920"/>
          </a:xfrm>
          <a:prstGeom prst="rect">
            <a:avLst/>
          </a:prstGeom>
          <a:solidFill>
            <a:srgbClr val="F6F1E7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11296" y="5733287"/>
            <a:ext cx="4133087" cy="46634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Arial"/>
              </a:rPr>
              <a:t>Problème masqué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80960" y="5714999"/>
            <a:ext cx="3931920" cy="502920"/>
          </a:xfrm>
          <a:prstGeom prst="rect">
            <a:avLst/>
          </a:prstGeom>
          <a:solidFill>
            <a:srgbClr val="F6F1E7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17536" y="5733287"/>
            <a:ext cx="3858768" cy="46634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Arial"/>
              </a:rPr>
              <a:t>DLQ, rejeu après correction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6510528"/>
            <a:ext cx="731520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6F1E7"/>
                </a:solidFill>
                <a:latin typeface="Courier New"/>
              </a:rPr>
              <a:t>FIABILITÉ DES PIPELINES BIG DATA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607040" y="6510528"/>
            <a:ext cx="1280160" cy="34747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607040" y="6510528"/>
            <a:ext cx="128016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41414"/>
                </a:solidFill>
                <a:latin typeface="Courier New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C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4754880" cy="4572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466344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6F1E7"/>
                </a:solidFill>
                <a:latin typeface="Courier New"/>
              </a:rPr>
              <a:t>[ CONCLUSION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41414"/>
                </a:solidFill>
                <a:latin typeface="Arial Black"/>
              </a:rPr>
              <a:t>LES RETRIES : UN FILET DE SÉCURITÉ,</a:t>
            </a:r>
          </a:p>
          <a:p>
            <a:pPr algn="l">
              <a:spcAft>
                <a:spcPts val="400"/>
              </a:spcAft>
            </a:pPr>
            <a:r>
              <a:rPr sz="2800" b="1">
                <a:solidFill>
                  <a:srgbClr val="141414"/>
                </a:solidFill>
                <a:latin typeface="Arial Black"/>
              </a:rPr>
              <a:t>PAS UNE STRATÉGIE DE FIABILITÉ.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926080"/>
            <a:ext cx="2651760" cy="20116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834640"/>
            <a:ext cx="2651760" cy="2011680"/>
          </a:xfrm>
          <a:prstGeom prst="rect">
            <a:avLst/>
          </a:prstGeom>
          <a:solidFill>
            <a:srgbClr val="7FCDB5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907792"/>
            <a:ext cx="246887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20" b="1">
                <a:solidFill>
                  <a:srgbClr val="141414"/>
                </a:solidFill>
                <a:latin typeface="Arial Black"/>
              </a:rPr>
              <a:t>RÉCUPÉRER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19272"/>
            <a:ext cx="2468879" cy="148132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25" b="0">
                <a:solidFill>
                  <a:srgbClr val="141414"/>
                </a:solidFill>
                <a:latin typeface="Arial"/>
              </a:rPr>
              <a:t>État persisté, retry, reprise ciblée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2926080"/>
            <a:ext cx="2651760" cy="20116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2834640"/>
            <a:ext cx="2651760" cy="2011680"/>
          </a:xfrm>
          <a:prstGeom prst="rect">
            <a:avLst/>
          </a:prstGeom>
          <a:solidFill>
            <a:srgbClr val="F6F1E7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907792"/>
            <a:ext cx="246887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20" b="1">
                <a:solidFill>
                  <a:srgbClr val="141414"/>
                </a:solidFill>
                <a:latin typeface="Arial Black"/>
              </a:rPr>
              <a:t>PRÉVENIR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319272"/>
            <a:ext cx="2468879" cy="148132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25" b="0">
                <a:solidFill>
                  <a:srgbClr val="141414"/>
                </a:solidFill>
                <a:latin typeface="Arial"/>
              </a:rPr>
              <a:t>Quality gates, data contracts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926080"/>
            <a:ext cx="2651760" cy="20116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2834640"/>
            <a:ext cx="2651760" cy="2011680"/>
          </a:xfrm>
          <a:prstGeom prst="rect">
            <a:avLst/>
          </a:prstGeom>
          <a:solidFill>
            <a:srgbClr val="4B55C8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907792"/>
            <a:ext cx="246887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20" b="1">
                <a:solidFill>
                  <a:srgbClr val="FFFFFF"/>
                </a:solidFill>
                <a:latin typeface="Arial Black"/>
              </a:rPr>
              <a:t>DIAGNOSTIQUER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319272"/>
            <a:ext cx="2468879" cy="148132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25" b="0">
                <a:solidFill>
                  <a:srgbClr val="FFFFFF"/>
                </a:solidFill>
                <a:latin typeface="Arial"/>
              </a:rPr>
              <a:t>Lignage + observabilité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2926080"/>
            <a:ext cx="2651760" cy="20116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0" y="2834640"/>
            <a:ext cx="2651760" cy="2011680"/>
          </a:xfrm>
          <a:prstGeom prst="rect">
            <a:avLst/>
          </a:prstGeom>
          <a:solidFill>
            <a:srgbClr val="EF7B63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2907792"/>
            <a:ext cx="246887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20" b="1">
                <a:solidFill>
                  <a:srgbClr val="141414"/>
                </a:solidFill>
                <a:latin typeface="Arial Black"/>
              </a:rPr>
              <a:t>COMPLÉTER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319272"/>
            <a:ext cx="2468879" cy="148132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25" b="0">
                <a:solidFill>
                  <a:srgbClr val="141414"/>
                </a:solidFill>
                <a:latin typeface="Arial"/>
              </a:rPr>
              <a:t>Idempotence, DLQ, circuit breakers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212079"/>
            <a:ext cx="11247120" cy="13716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120640"/>
            <a:ext cx="11247120" cy="1371600"/>
          </a:xfrm>
          <a:prstGeom prst="rect">
            <a:avLst/>
          </a:prstGeom>
          <a:solidFill>
            <a:srgbClr val="141414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193792"/>
            <a:ext cx="11064240" cy="125272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75" b="1">
                <a:solidFill>
                  <a:srgbClr val="F6F1E7"/>
                </a:solidFill>
                <a:latin typeface="Arial"/>
              </a:rPr>
              <a:t>Fiabilité = idempotence + reprise ciblée + contrôles bloquants + lignage et observabilité + repli au-delà des retries.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91440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800100" cy="34747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0010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6F1E7"/>
                </a:solidFill>
                <a:latin typeface="Courier New"/>
              </a:rPr>
              <a:t>[RÉF]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31520"/>
            <a:ext cx="113385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41414"/>
                </a:solidFill>
                <a:latin typeface="Arial Black"/>
              </a:rPr>
              <a:t>RÉFÉRENCES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74552" cy="128016"/>
          </a:xfrm>
          <a:prstGeom prst="rect">
            <a:avLst/>
          </a:prstGeom>
          <a:solidFill>
            <a:srgbClr val="4B55C8"/>
          </a:solidFill>
          <a:ln w="381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5486400" cy="43891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solidFill>
            <a:srgbClr val="F6F1E7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01952"/>
            <a:ext cx="5303520" cy="42702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[1] Dataiku. Data Lineage: Impact and Root Cause Analysis.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[2] InfoQ. End-to-End Field Level Lineage.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[3] Airbyte. Data Pipeline Observability.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[4] Datadog. Data Observability Overview.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[5] Self-Healing Data Pipelines. Zenodo, 2023.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[6] Observability for Production ML Pipelines.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[7] Apache Airflow. Documentation.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[8] OpenLineage.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79" y="1920240"/>
            <a:ext cx="5394960" cy="43891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828800"/>
            <a:ext cx="5394960" cy="4389120"/>
          </a:xfrm>
          <a:prstGeom prst="rect">
            <a:avLst/>
          </a:prstGeom>
          <a:solidFill>
            <a:srgbClr val="F6F1E7"/>
          </a:solidFill>
          <a:ln w="508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79" y="1901952"/>
            <a:ext cx="5212080" cy="42702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[9] Schelter et al. (2018). Data Quality Verification. VLDB.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[10] Zaharia et al. (2012). RDD. USENIX NSDI.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[11] Carbone et al. (2015). Apache Flink. IEEE DEB.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[12] Spark Structured Streaming Guide.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[13] Amazon Builders' Library. Retries and backoff with jitter.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[14] Temporal. Documentation.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[15] Great Expectations. Documentation.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510528"/>
            <a:ext cx="731520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6F1E7"/>
                </a:solidFill>
                <a:latin typeface="Courier New"/>
              </a:rPr>
              <a:t>FIABILITÉ DES PIPELINES BIG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07040" y="6510528"/>
            <a:ext cx="1280160" cy="34747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0" y="6510528"/>
            <a:ext cx="128016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41414"/>
                </a:solidFill>
                <a:latin typeface="Courier New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