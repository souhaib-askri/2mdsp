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de l'orateur (1 min) :</a:t>
            </a:r>
          </a:p>
          <a:p>
            <a:r>
              <a:t>- Bonjour Monsieur le Professeur, chers collègues.</a:t>
            </a:r>
          </a:p>
          <a:p>
            <a:r>
              <a:t>- Aujourd'hui, j'ai l'honneur de vous présenter notre travail de recherche sur le Thème 4 : 'Fiabilité des pipelines Big Data en production : Au-delà de Spark'.</a:t>
            </a:r>
          </a:p>
          <a:p>
            <a:r>
              <a:t>- Longtemps, l'apprentissage du Big Data s'est focalisé sur la vitesse de calcul avec Apache Spark. Mais en environnement d'entreprise, faire tourner Spark ne garantit pas la validité des données. Nous allons explorer comment sécuriser l'ensemble du cycle de vie des données.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de l'orateur (2 min) :</a:t>
            </a:r>
          </a:p>
          <a:p>
            <a:r>
              <a:t>- Pour vulgariser le concept, comparons le pipeline de données au réseau hydraulique d'une ville.</a:t>
            </a:r>
          </a:p>
          <a:p>
            <a:r>
              <a:t>- Le moteur Spark est l'usine de pompage et de filtration. Mais le danger réside dans l'eau contaminée qui atteindrait les citoyens.</a:t>
            </a:r>
          </a:p>
          <a:p>
            <a:r>
              <a:t>- La fiabilité ne se résume pas à la puissance des pompes, mais à la présence de vannes de sécurité et de bassins de mise en quarantaine.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de l'orateur (2 min) :</a:t>
            </a:r>
          </a:p>
          <a:p>
            <a:r>
              <a:t>- Question centrale : 'Spark possède déjà le RDD Lineage, pourquoi d'autres outils ?'</a:t>
            </a:r>
          </a:p>
          <a:p>
            <a:r>
              <a:t>- Réponse : Spark gère uniquement les pannes matérielles internes. Il est sémantiquement aveugle au contenu métier des données.</a:t>
            </a:r>
          </a:p>
          <a:p>
            <a:r>
              <a:t>- D'où l'émergence du Data Reliability Engineering (DRE).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de l'orateur (1 min) :</a:t>
            </a:r>
          </a:p>
          <a:p>
            <a:r>
              <a:t>- Présentation du plan : Nous abordons successivement les 4 questions posées par le sujet d'examen/recherche.</a:t>
            </a:r>
          </a:p>
          <a:p>
            <a:r>
              <a:t>- Chaque pilier combine fondements théoriques, schémas d'architecture et bonnes pratiques d'ingénierie.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de l'orateur (2 min) :</a:t>
            </a:r>
          </a:p>
          <a:p>
            <a:r>
              <a:t>- Découpler l'ordonnancement de l'exécution grâce au State Backend.</a:t>
            </a:r>
          </a:p>
          <a:p>
            <a:r>
              <a:t>- La reprise granulaire sélective (Fine-grained Resume) évite de refaire des calculs coûteux qui ont déjà réussi.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de l'orateur (2 min) :</a:t>
            </a:r>
          </a:p>
          <a:p>
            <a:r>
              <a:t>- Explication du schéma : Phase 1 (crash Spark et blocage immédiat des consommateurs amont) et Phase 2 (reprise isolée dans Kubernetes avec mise à l'échelle de la mémoire).</a:t>
            </a:r>
          </a:p>
          <a:p>
            <a:r>
              <a:t>- Mentionner le paradigme Software-Defined Assets de Dagster.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de l'orateur (2 min) :</a:t>
            </a:r>
          </a:p>
          <a:p>
            <a:r>
              <a:t>- Ce diagramme architectural modélise les 6 dimensions normatives de la qualité (standards DAMA et ISO 8000).</a:t>
            </a:r>
          </a:p>
          <a:p>
            <a:r>
              <a:t>- Chacune des 6 branches définit : le seuil métrique, l'assertion automatisée correspondante (Great Expectations / Soda Core), et le risque métier évité.</a:t>
            </a:r>
          </a:p>
          <a:p>
            <a:r>
              <a:t>- C'est la base de contrôle qui alimente le disjoncteur (Circuit Breaker) que nous verrons au slide suivant.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de l'orateur (2 min) :</a:t>
            </a:r>
          </a:p>
          <a:p>
            <a:r>
              <a:t>- Emprunté à l'électrotechnique, le coupe-circuit interrompt le flux pour éviter que l'incendie ne se propage aux dashboards.</a:t>
            </a:r>
          </a:p>
          <a:p>
            <a:r>
              <a:t>- Les décideurs préfèrent un rapport retardé d'une heure plutôt qu'un rapport fondé sur des chiffres toxiques.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de l'orateur (2 min) :</a:t>
            </a:r>
          </a:p>
          <a:p>
            <a:r>
              <a:t>- Le pattern WAP s'inspire du workflow Git : on ne merge dans 'main' qu'après validation du CI/CD.</a:t>
            </a:r>
          </a:p>
          <a:p>
            <a:r>
              <a:t>- Révolutionnaire dans Apache Iceberg et Delta Lake pour éliminer les écritures partielles corrompues.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de l'orateur (2 min) :</a:t>
            </a:r>
          </a:p>
          <a:p>
            <a:r>
              <a:t>- Sans lignage, trouver l'origine d'un crash au milieu de centaines de tables prend des jours.</a:t>
            </a:r>
          </a:p>
          <a:p>
            <a:r>
              <a:t>- Le lignage offre deux vues indispensables : Root Cause vers l'amont et Blast Radius vers l'aval.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de l'orateur (2 min) :</a:t>
            </a:r>
          </a:p>
          <a:p>
            <a:r>
              <a:t>- Le Column-Level Lineage analyse l'arbre syntaxique du code SQL/Spark.</a:t>
            </a:r>
          </a:p>
          <a:p>
            <a:r>
              <a:t>- Exemple concret : si le dashboard affiche 0$, on cible immédiatement la colonne du taux de change sans sonder des gigaoctets de données inutiles.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de l'orateur (2 min) :</a:t>
            </a:r>
          </a:p>
          <a:p>
            <a:r>
              <a:t>- L'option par défaut 'retries: 3' sans réflexion est dangereuse.</a:t>
            </a:r>
          </a:p>
          <a:p>
            <a:r>
              <a:t>- La partie gauche du schéma illustre ces 3 pathologies : la tempête qui achève le serveur, les doublons et la pilule empoisonnée.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de l'orateur (2 min) :</a:t>
            </a:r>
          </a:p>
          <a:p>
            <a:r>
              <a:t>- Présentation des solutions de la partie droite du schéma.</a:t>
            </a:r>
          </a:p>
          <a:p>
            <a:r>
              <a:t>- Le Full Jitter est l'algorithme standard d'Amazon AWS pour éviter les collisions.</a:t>
            </a:r>
          </a:p>
          <a:p>
            <a:r>
              <a:t>- L'idempotence est la règle numéro un d'un pipeline fiable.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de l'orateur (2 min) :</a:t>
            </a:r>
          </a:p>
          <a:p>
            <a:r>
              <a:t>- Synthèse globale démontrant le passage du bricolage artisanal à l'ingénierie industrielle de la donnée.</a:t>
            </a:r>
          </a:p>
          <a:p>
            <a:r>
              <a:t>- Chaque défi trouve sa réponse dans un standard technique éprouvé.</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de l'orateur (1 min) :</a:t>
            </a:r>
          </a:p>
          <a:p>
            <a:r>
              <a:t>- Récapitulation des 4 principes directeurs du Data Reliability Engineer.</a:t>
            </a:r>
          </a:p>
          <a:p>
            <a:r>
              <a:t>- Remerciements à l'enseignant et à l'audience, et ouverture de la discussion technique.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 y="1371600"/>
            <a:ext cx="109728" cy="384048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371600"/>
            <a:ext cx="9601200" cy="4114800"/>
          </a:xfrm>
          <a:prstGeom prst="rect">
            <a:avLst/>
          </a:prstGeom>
          <a:noFill/>
        </p:spPr>
        <p:txBody>
          <a:bodyPr wrap="square">
            <a:spAutoFit/>
          </a:bodyPr>
          <a:lstStyle/>
          <a:p>
            <a:pPr>
              <a:defRPr sz="1200" b="1">
                <a:solidFill>
                  <a:srgbClr val="38BDF8"/>
                </a:solidFill>
              </a:defRPr>
            </a:pPr>
            <a:r>
              <a:t>MASTER 2 DATA SCIENCE &amp; BIG DATA (2MDSP) — ISLAI BÉJA</a:t>
            </a:r>
          </a:p>
          <a:p>
            <a:pPr>
              <a:spcBef>
                <a:spcPts val="1200"/>
              </a:spcBef>
              <a:defRPr sz="3200" b="1">
                <a:solidFill>
                  <a:srgbClr val="FFFFFF"/>
                </a:solidFill>
              </a:defRPr>
            </a:pPr>
            <a:r>
              <a:t>Fiabilité des Pipelines Big Data en Production</a:t>
            </a:r>
          </a:p>
          <a:p>
            <a:pPr>
              <a:spcBef>
                <a:spcPts val="600"/>
              </a:spcBef>
              <a:defRPr sz="1800">
                <a:solidFill>
                  <a:srgbClr val="CBD5E1"/>
                </a:solidFill>
              </a:defRPr>
            </a:pPr>
            <a:r>
              <a:t>Au-delà d'Apache Spark : Les défis des systèmes Big Data modernes</a:t>
            </a:r>
          </a:p>
          <a:p>
            <a:pPr>
              <a:spcBef>
                <a:spcPts val="2800"/>
              </a:spcBef>
              <a:defRPr sz="1300">
                <a:solidFill>
                  <a:srgbClr val="94A3B8"/>
                </a:solidFill>
              </a:defRPr>
            </a:pPr>
            <a:r>
              <a:t>Activité de Recherche — Thème 4 | Module : Frameworks Big Data</a:t>
            </a:r>
          </a:p>
          <a:p>
            <a:pPr>
              <a:spcBef>
                <a:spcPts val="800"/>
              </a:spcBef>
              <a:defRPr sz="1200" i="1">
                <a:solidFill>
                  <a:srgbClr val="38BDF8"/>
                </a:solidFill>
              </a:defRPr>
            </a:pPr>
            <a:r>
              <a:t>De la tolérance aux pannes d'infrastructure (RDD Lineage) à l'ingénierie globale de la fiabilité des données (DRE)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000" b="1">
                <a:solidFill>
                  <a:srgbClr val="2563EB"/>
                </a:solidFill>
              </a:defRPr>
            </a:pPr>
            <a:r>
              <a:t>FRAMEWORKS BIG DATA — THÈME 4</a:t>
            </a:r>
          </a:p>
          <a:p>
            <a:pPr>
              <a:spcBef>
                <a:spcPts val="400"/>
              </a:spcBef>
              <a:defRPr sz="2200" b="1">
                <a:solidFill>
                  <a:srgbClr val="1E293B"/>
                </a:solidFill>
              </a:defRPr>
            </a:pPr>
            <a:r>
              <a:t>Modèle Mental : L'Analogie du Réseau de Distribution d'Eau</a:t>
            </a:r>
          </a:p>
        </p:txBody>
      </p:sp>
      <p:sp>
        <p:nvSpPr>
          <p:cNvPr id="4" name="Rectangle 3"/>
          <p:cNvSpPr/>
          <p:nvPr/>
        </p:nvSpPr>
        <p:spPr>
          <a:xfrm>
            <a:off x="731520" y="1371600"/>
            <a:ext cx="10728655" cy="2743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4572000" cy="4572000"/>
          </a:xfrm>
          <a:prstGeom prst="rect">
            <a:avLst/>
          </a:prstGeom>
          <a:noFill/>
        </p:spPr>
        <p:txBody>
          <a:bodyPr wrap="square">
            <a:spAutoFit/>
          </a:bodyPr>
          <a:lstStyle/>
          <a:p>
            <a:pPr>
              <a:defRPr sz="1500" b="1">
                <a:solidFill>
                  <a:srgbClr val="1E293B"/>
                </a:solidFill>
              </a:defRPr>
            </a:pPr>
            <a:r>
              <a:t>Pourquoi la fiabilité de bout en bout est-elle cruciale ?</a:t>
            </a:r>
          </a:p>
          <a:p>
            <a:pPr>
              <a:spcBef>
                <a:spcPts val="800"/>
              </a:spcBef>
              <a:defRPr sz="1100" b="1">
                <a:solidFill>
                  <a:srgbClr val="2563EB"/>
                </a:solidFill>
              </a:defRPr>
            </a:pPr>
            <a:r>
              <a:t>1. La Rivière Brute (Data Sources) : </a:t>
            </a:r>
            <a:r>
              <a:rPr b="0">
                <a:solidFill>
                  <a:srgbClr val="1E293B"/>
                </a:solidFill>
              </a:rPr>
              <a:t>Flux ininterrompu d'événements (Kafka, CDC, logs) charriant impuretés et sédiments imprévus.</a:t>
            </a:r>
          </a:p>
          <a:p>
            <a:pPr>
              <a:spcBef>
                <a:spcPts val="800"/>
              </a:spcBef>
              <a:defRPr sz="1100" b="1">
                <a:solidFill>
                  <a:srgbClr val="2563EB"/>
                </a:solidFill>
              </a:defRPr>
            </a:pPr>
            <a:r>
              <a:t>2. L'Usine de Traitement (Moteur Spark) : </a:t>
            </a:r>
            <a:r>
              <a:rPr b="0">
                <a:solidFill>
                  <a:srgbClr val="1E293B"/>
                </a:solidFill>
              </a:rPr>
              <a:t>Puissance de calcul distribuée pour filtrer, agréger et transformer des volumes colossaux.</a:t>
            </a:r>
          </a:p>
          <a:p>
            <a:pPr>
              <a:spcBef>
                <a:spcPts val="800"/>
              </a:spcBef>
              <a:defRPr sz="1100" b="1">
                <a:solidFill>
                  <a:srgbClr val="2563EB"/>
                </a:solidFill>
              </a:defRPr>
            </a:pPr>
            <a:r>
              <a:t>3. La Vanne de Sécurité &amp; Laboratoire : </a:t>
            </a:r>
            <a:r>
              <a:rPr b="0">
                <a:solidFill>
                  <a:srgbClr val="1E293B"/>
                </a:solidFill>
              </a:rPr>
              <a:t>Prélèvement d'échantillons en continu : dérivation immédiate des eaux souillées vers un bassin de quarantaine (DLQ).</a:t>
            </a:r>
          </a:p>
          <a:p>
            <a:pPr>
              <a:spcBef>
                <a:spcPts val="800"/>
              </a:spcBef>
              <a:defRPr sz="1100" b="1">
                <a:solidFill>
                  <a:srgbClr val="2563EB"/>
                </a:solidFill>
              </a:defRPr>
            </a:pPr>
            <a:r>
              <a:t>4. Réservoirs Purs &amp; Robinets : </a:t>
            </a:r>
            <a:r>
              <a:rPr b="0">
                <a:solidFill>
                  <a:srgbClr val="1E293B"/>
                </a:solidFill>
              </a:rPr>
              <a:t>Eau potable 100% conforme alimentant les dashboards de décision et les modèles d'IA.</a:t>
            </a:r>
          </a:p>
        </p:txBody>
      </p:sp>
      <p:pic>
        <p:nvPicPr>
          <p:cNvPr id="6" name="Picture 5" descr="data_pipeline_water_analogy.png"/>
          <p:cNvPicPr>
            <a:picLocks noChangeAspect="1"/>
          </p:cNvPicPr>
          <p:nvPr/>
        </p:nvPicPr>
        <p:blipFill>
          <a:blip r:embed="rId2"/>
          <a:stretch>
            <a:fillRect/>
          </a:stretch>
        </p:blipFill>
        <p:spPr>
          <a:xfrm>
            <a:off x="5486400" y="2662301"/>
            <a:ext cx="5943600" cy="253923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000" b="1">
                <a:solidFill>
                  <a:srgbClr val="2563EB"/>
                </a:solidFill>
              </a:defRPr>
            </a:pPr>
            <a:r>
              <a:t>FRAMEWORKS BIG DATA — THÈME 4</a:t>
            </a:r>
          </a:p>
          <a:p>
            <a:pPr>
              <a:spcBef>
                <a:spcPts val="400"/>
              </a:spcBef>
              <a:defRPr sz="2200" b="1">
                <a:solidFill>
                  <a:srgbClr val="1E293B"/>
                </a:solidFill>
              </a:defRPr>
            </a:pPr>
            <a:r>
              <a:t>Problématique : Pourquoi Apache Spark ne suffit-il pas en Production ?</a:t>
            </a:r>
          </a:p>
        </p:txBody>
      </p:sp>
      <p:sp>
        <p:nvSpPr>
          <p:cNvPr id="4" name="Rectangle 3"/>
          <p:cNvSpPr/>
          <p:nvPr/>
        </p:nvSpPr>
        <p:spPr>
          <a:xfrm>
            <a:off x="731520" y="1371600"/>
            <a:ext cx="10728655" cy="2743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4572000" cy="4572000"/>
          </a:xfrm>
          <a:prstGeom prst="rect">
            <a:avLst/>
          </a:prstGeom>
          <a:noFill/>
        </p:spPr>
        <p:txBody>
          <a:bodyPr wrap="square">
            <a:spAutoFit/>
          </a:bodyPr>
          <a:lstStyle/>
          <a:p>
            <a:pPr>
              <a:defRPr sz="1500" b="1">
                <a:solidFill>
                  <a:srgbClr val="1E293B"/>
                </a:solidFill>
              </a:defRPr>
            </a:pPr>
            <a:r>
              <a:t>Limites du modèle classique face aux exigences d'entreprise :</a:t>
            </a:r>
          </a:p>
          <a:p>
            <a:pPr>
              <a:spcBef>
                <a:spcPts val="800"/>
              </a:spcBef>
              <a:defRPr sz="1100" b="1">
                <a:solidFill>
                  <a:srgbClr val="059669"/>
                </a:solidFill>
              </a:defRPr>
            </a:pPr>
            <a:r>
              <a:t>• Tolérance aux pannes interne (In-Memory) : </a:t>
            </a:r>
            <a:r>
              <a:rPr b="0">
                <a:solidFill>
                  <a:srgbClr val="1E293B"/>
                </a:solidFill>
              </a:rPr>
              <a:t>Spark reconstruit automatiquement les partitions perdues via son RDD Lineage lors du crash d'un Worker.</a:t>
            </a:r>
          </a:p>
          <a:p>
            <a:pPr>
              <a:spcBef>
                <a:spcPts val="800"/>
              </a:spcBef>
              <a:defRPr sz="1100" b="1">
                <a:solidFill>
                  <a:srgbClr val="DC2626"/>
                </a:solidFill>
              </a:defRPr>
            </a:pPr>
            <a:r>
              <a:t>• Cécité sémantique (Semantic Blindness) : </a:t>
            </a:r>
            <a:r>
              <a:rPr b="0">
                <a:solidFill>
                  <a:srgbClr val="1E293B"/>
                </a:solidFill>
              </a:rPr>
              <a:t>Spark termine avec un Exit Code 0 même si 100% des lignes contiennent des prix négatifs ou des clés dupliquées.</a:t>
            </a:r>
          </a:p>
          <a:p>
            <a:pPr>
              <a:spcBef>
                <a:spcPts val="800"/>
              </a:spcBef>
              <a:defRPr sz="1100" b="1">
                <a:solidFill>
                  <a:srgbClr val="DC2626"/>
                </a:solidFill>
              </a:defRPr>
            </a:pPr>
            <a:r>
              <a:t>• Crash du Driver (Driver OOM) : </a:t>
            </a:r>
            <a:r>
              <a:rPr b="0">
                <a:solidFill>
                  <a:srgbClr val="1E293B"/>
                </a:solidFill>
              </a:rPr>
              <a:t>Si le Driver Spark manque de mémoire, toute l'application s'effondre sans capacité d'auto-guérison globale.</a:t>
            </a:r>
          </a:p>
          <a:p>
            <a:pPr>
              <a:spcBef>
                <a:spcPts val="800"/>
              </a:spcBef>
              <a:defRPr sz="1100" b="1">
                <a:solidFill>
                  <a:srgbClr val="DC2626"/>
                </a:solidFill>
              </a:defRPr>
            </a:pPr>
            <a:r>
              <a:t>• Fragilité aux frontières externes : </a:t>
            </a:r>
            <a:r>
              <a:rPr b="0">
                <a:solidFill>
                  <a:srgbClr val="1E293B"/>
                </a:solidFill>
              </a:rPr>
              <a:t>Spark ne contrôle ni les ruptures d'APIs amont, ni les dérives inattendues de schéma (Schema Drift).</a:t>
            </a:r>
          </a:p>
        </p:txBody>
      </p:sp>
      <p:pic>
        <p:nvPicPr>
          <p:cNvPr id="6" name="Picture 5" descr="spark_boundary_vs_end_to_end_reliability.png"/>
          <p:cNvPicPr>
            <a:picLocks noChangeAspect="1"/>
          </p:cNvPicPr>
          <p:nvPr/>
        </p:nvPicPr>
        <p:blipFill>
          <a:blip r:embed="rId2"/>
          <a:stretch>
            <a:fillRect/>
          </a:stretch>
        </p:blipFill>
        <p:spPr>
          <a:xfrm>
            <a:off x="5486400" y="2662301"/>
            <a:ext cx="5943600" cy="2539238"/>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000" b="1">
                <a:solidFill>
                  <a:srgbClr val="2563EB"/>
                </a:solidFill>
              </a:defRPr>
            </a:pPr>
            <a:r>
              <a:t>FRAMEWORKS BIG DATA — THÈME 4</a:t>
            </a:r>
          </a:p>
          <a:p>
            <a:pPr>
              <a:spcBef>
                <a:spcPts val="400"/>
              </a:spcBef>
              <a:defRPr sz="2200" b="1">
                <a:solidFill>
                  <a:srgbClr val="1E293B"/>
                </a:solidFill>
              </a:defRPr>
            </a:pPr>
            <a:r>
              <a:t>Feuille de Route : Les 4 Piliers Fondamentaux de la Recherche</a:t>
            </a:r>
          </a:p>
        </p:txBody>
      </p:sp>
      <p:sp>
        <p:nvSpPr>
          <p:cNvPr id="4" name="Rectangle 3"/>
          <p:cNvSpPr/>
          <p:nvPr/>
        </p:nvSpPr>
        <p:spPr>
          <a:xfrm>
            <a:off x="731520" y="1371600"/>
            <a:ext cx="10728655" cy="2743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2542032" cy="457200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2267712" cy="4297680"/>
          </a:xfrm>
          <a:prstGeom prst="rect">
            <a:avLst/>
          </a:prstGeom>
          <a:noFill/>
        </p:spPr>
        <p:txBody>
          <a:bodyPr wrap="square">
            <a:spAutoFit/>
          </a:bodyPr>
          <a:lstStyle/>
          <a:p>
            <a:pPr>
              <a:defRPr sz="1100" b="1">
                <a:solidFill>
                  <a:srgbClr val="2563EB"/>
                </a:solidFill>
              </a:defRPr>
            </a:pPr>
            <a:r>
              <a:t>PILIER 1</a:t>
            </a:r>
          </a:p>
          <a:p>
            <a:pPr>
              <a:spcBef>
                <a:spcPts val="400"/>
              </a:spcBef>
              <a:defRPr sz="1300" b="1">
                <a:solidFill>
                  <a:srgbClr val="1E293B"/>
                </a:solidFill>
              </a:defRPr>
            </a:pPr>
            <a:r>
              <a:t>Reprise des Orchestrateurs</a:t>
            </a:r>
          </a:p>
          <a:p>
            <a:pPr>
              <a:spcBef>
                <a:spcPts val="200"/>
              </a:spcBef>
              <a:defRPr sz="900" i="1">
                <a:solidFill>
                  <a:srgbClr val="64748B"/>
                </a:solidFill>
              </a:defRPr>
            </a:pPr>
            <a:r>
              <a:t>Orchestration Task Recovery</a:t>
            </a:r>
          </a:p>
          <a:p>
            <a:pPr>
              <a:spcBef>
                <a:spcPts val="1200"/>
              </a:spcBef>
              <a:defRPr sz="1000">
                <a:solidFill>
                  <a:srgbClr val="1E293B"/>
                </a:solidFill>
              </a:defRPr>
            </a:pPr>
            <a:r>
              <a:t>• Persistance d'état (State Backend Postgres)</a:t>
            </a:r>
            <a:br/>
            <a:r>
              <a:t>• Reprise granulaire sélective (Downstream Only)</a:t>
            </a:r>
            <a:br/>
            <a:r>
              <a:t>• Isolation par conteneurs (Kubernetes Pods)</a:t>
            </a:r>
            <a:br/>
            <a:r>
              <a:t>• Orchestration déclarative par actifs (Dagster)</a:t>
            </a:r>
          </a:p>
        </p:txBody>
      </p:sp>
      <p:sp>
        <p:nvSpPr>
          <p:cNvPr id="7" name="Rounded Rectangle 6"/>
          <p:cNvSpPr/>
          <p:nvPr/>
        </p:nvSpPr>
        <p:spPr>
          <a:xfrm>
            <a:off x="3456432" y="1645920"/>
            <a:ext cx="2542032" cy="457200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93592" y="1783080"/>
            <a:ext cx="2267712" cy="4297680"/>
          </a:xfrm>
          <a:prstGeom prst="rect">
            <a:avLst/>
          </a:prstGeom>
          <a:noFill/>
        </p:spPr>
        <p:txBody>
          <a:bodyPr wrap="square">
            <a:spAutoFit/>
          </a:bodyPr>
          <a:lstStyle/>
          <a:p>
            <a:pPr>
              <a:defRPr sz="1100" b="1">
                <a:solidFill>
                  <a:srgbClr val="059669"/>
                </a:solidFill>
              </a:defRPr>
            </a:pPr>
            <a:r>
              <a:t>PILIER 2</a:t>
            </a:r>
          </a:p>
          <a:p>
            <a:pPr>
              <a:spcBef>
                <a:spcPts val="400"/>
              </a:spcBef>
              <a:defRPr sz="1300" b="1">
                <a:solidFill>
                  <a:srgbClr val="1E293B"/>
                </a:solidFill>
              </a:defRPr>
            </a:pPr>
            <a:r>
              <a:t>Surveillance Qualité Automatisée</a:t>
            </a:r>
          </a:p>
          <a:p>
            <a:pPr>
              <a:spcBef>
                <a:spcPts val="200"/>
              </a:spcBef>
              <a:defRPr sz="900" i="1">
                <a:solidFill>
                  <a:srgbClr val="64748B"/>
                </a:solidFill>
              </a:defRPr>
            </a:pPr>
            <a:r>
              <a:t>Automated Data Quality Monitoring</a:t>
            </a:r>
          </a:p>
          <a:p>
            <a:pPr>
              <a:spcBef>
                <a:spcPts val="1200"/>
              </a:spcBef>
              <a:defRPr sz="1000">
                <a:solidFill>
                  <a:srgbClr val="1E293B"/>
                </a:solidFill>
              </a:defRPr>
            </a:pPr>
            <a:r>
              <a:t>• Les 6 dimensions normatives de la qualité</a:t>
            </a:r>
            <a:br/>
            <a:r>
              <a:t>• Architecture en Coupe-Circuit (Circuit Breaker)</a:t>
            </a:r>
            <a:br/>
            <a:r>
              <a:t>• Tests déclaratifs (Great Expectations, Soda)</a:t>
            </a:r>
            <a:br/>
            <a:r>
              <a:t>• Pattern Write-Audit-Publish (WAP)</a:t>
            </a:r>
          </a:p>
        </p:txBody>
      </p:sp>
      <p:sp>
        <p:nvSpPr>
          <p:cNvPr id="9" name="Rounded Rectangle 8"/>
          <p:cNvSpPr/>
          <p:nvPr/>
        </p:nvSpPr>
        <p:spPr>
          <a:xfrm>
            <a:off x="6181344" y="1645920"/>
            <a:ext cx="2542032" cy="4572000"/>
          </a:xfrm>
          <a:prstGeom prst="roundRect">
            <a:avLst/>
          </a:prstGeom>
          <a:solidFill>
            <a:srgbClr val="FFFFFF"/>
          </a:solidFill>
          <a:ln w="1905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8504" y="1783080"/>
            <a:ext cx="2267712" cy="4297680"/>
          </a:xfrm>
          <a:prstGeom prst="rect">
            <a:avLst/>
          </a:prstGeom>
          <a:noFill/>
        </p:spPr>
        <p:txBody>
          <a:bodyPr wrap="square">
            <a:spAutoFit/>
          </a:bodyPr>
          <a:lstStyle/>
          <a:p>
            <a:pPr>
              <a:defRPr sz="1100" b="1">
                <a:solidFill>
                  <a:srgbClr val="9333EA"/>
                </a:solidFill>
              </a:defRPr>
            </a:pPr>
            <a:r>
              <a:t>PILIER 3</a:t>
            </a:r>
          </a:p>
          <a:p>
            <a:pPr>
              <a:spcBef>
                <a:spcPts val="400"/>
              </a:spcBef>
              <a:defRPr sz="1300" b="1">
                <a:solidFill>
                  <a:srgbClr val="1E293B"/>
                </a:solidFill>
              </a:defRPr>
            </a:pPr>
            <a:r>
              <a:t>Traçabilité &amp; Observabilité</a:t>
            </a:r>
          </a:p>
          <a:p>
            <a:pPr>
              <a:spcBef>
                <a:spcPts val="200"/>
              </a:spcBef>
              <a:defRPr sz="900" i="1">
                <a:solidFill>
                  <a:srgbClr val="64748B"/>
                </a:solidFill>
              </a:defRPr>
            </a:pPr>
            <a:r>
              <a:t>Data Lineage &amp; Observability</a:t>
            </a:r>
          </a:p>
          <a:p>
            <a:pPr>
              <a:spcBef>
                <a:spcPts val="1200"/>
              </a:spcBef>
              <a:defRPr sz="1000">
                <a:solidFill>
                  <a:srgbClr val="1E293B"/>
                </a:solidFill>
              </a:defRPr>
            </a:pPr>
            <a:r>
              <a:t>• Les 4 piliers de l'observabilité des données</a:t>
            </a:r>
            <a:br/>
            <a:r>
              <a:t>• Analyse causale amont (Root Cause Analysis)</a:t>
            </a:r>
            <a:br/>
            <a:r>
              <a:t>• Analyse de rayon d'impact aval (Blast Radius)</a:t>
            </a:r>
            <a:br/>
            <a:r>
              <a:t>• Précision chirurgicale du Column-Level Lineage</a:t>
            </a:r>
          </a:p>
        </p:txBody>
      </p:sp>
      <p:sp>
        <p:nvSpPr>
          <p:cNvPr id="11" name="Rounded Rectangle 10"/>
          <p:cNvSpPr/>
          <p:nvPr/>
        </p:nvSpPr>
        <p:spPr>
          <a:xfrm>
            <a:off x="8906256" y="1645920"/>
            <a:ext cx="2542032" cy="4572000"/>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43416" y="1783080"/>
            <a:ext cx="2267712" cy="4297680"/>
          </a:xfrm>
          <a:prstGeom prst="rect">
            <a:avLst/>
          </a:prstGeom>
          <a:noFill/>
        </p:spPr>
        <p:txBody>
          <a:bodyPr wrap="square">
            <a:spAutoFit/>
          </a:bodyPr>
          <a:lstStyle/>
          <a:p>
            <a:pPr>
              <a:defRPr sz="1100" b="1">
                <a:solidFill>
                  <a:srgbClr val="DC2626"/>
                </a:solidFill>
              </a:defRPr>
            </a:pPr>
            <a:r>
              <a:t>PILIER 4</a:t>
            </a:r>
          </a:p>
          <a:p>
            <a:pPr>
              <a:spcBef>
                <a:spcPts val="400"/>
              </a:spcBef>
              <a:defRPr sz="1300" b="1">
                <a:solidFill>
                  <a:srgbClr val="1E293B"/>
                </a:solidFill>
              </a:defRPr>
            </a:pPr>
            <a:r>
              <a:t>Pathologies des Retries &amp; Résilience</a:t>
            </a:r>
          </a:p>
          <a:p>
            <a:pPr>
              <a:spcBef>
                <a:spcPts val="200"/>
              </a:spcBef>
              <a:defRPr sz="900" i="1">
                <a:solidFill>
                  <a:srgbClr val="64748B"/>
                </a:solidFill>
              </a:defRPr>
            </a:pPr>
            <a:r>
              <a:t>Retries Pitfalls &amp; Engineering Patterns</a:t>
            </a:r>
          </a:p>
          <a:p>
            <a:pPr>
              <a:spcBef>
                <a:spcPts val="1200"/>
              </a:spcBef>
              <a:defRPr sz="1000">
                <a:solidFill>
                  <a:srgbClr val="1E293B"/>
                </a:solidFill>
              </a:defRPr>
            </a:pPr>
            <a:r>
              <a:t>• Tempête de réessais &amp; troupeau tonitruant</a:t>
            </a:r>
            <a:br/>
            <a:r>
              <a:t>• Opérations non-idempotentes &amp; doublons</a:t>
            </a:r>
            <a:br/>
            <a:r>
              <a:t>• Décroissance exponentielle avec gigue (Jitter)</a:t>
            </a:r>
            <a:br/>
            <a:r>
              <a:t>• Files de messages morts &amp; quarantaine (DLQ)</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000" b="1">
                <a:solidFill>
                  <a:srgbClr val="2563EB"/>
                </a:solidFill>
              </a:defRPr>
            </a:pPr>
            <a:r>
              <a:t>FRAMEWORKS BIG DATA — THÈME 4</a:t>
            </a:r>
          </a:p>
          <a:p>
            <a:pPr>
              <a:spcBef>
                <a:spcPts val="400"/>
              </a:spcBef>
              <a:defRPr sz="2200" b="1">
                <a:solidFill>
                  <a:srgbClr val="1E293B"/>
                </a:solidFill>
              </a:defRPr>
            </a:pPr>
            <a:r>
              <a:t>Axe 1 : Reprise après Sinistre dans l'Orchestration (Airflow, Dagster)</a:t>
            </a:r>
          </a:p>
        </p:txBody>
      </p:sp>
      <p:sp>
        <p:nvSpPr>
          <p:cNvPr id="4" name="Rectangle 3"/>
          <p:cNvSpPr/>
          <p:nvPr/>
        </p:nvSpPr>
        <p:spPr>
          <a:xfrm>
            <a:off x="731520" y="1371600"/>
            <a:ext cx="10728655" cy="2743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728655" cy="4572000"/>
          </a:xfrm>
          <a:prstGeom prst="rect">
            <a:avLst/>
          </a:prstGeom>
          <a:noFill/>
        </p:spPr>
        <p:txBody>
          <a:bodyPr wrap="square">
            <a:spAutoFit/>
          </a:bodyPr>
          <a:lstStyle/>
          <a:p>
            <a:pPr>
              <a:defRPr sz="1500" b="1">
                <a:solidFill>
                  <a:srgbClr val="1E293B"/>
                </a:solidFill>
              </a:defRPr>
            </a:pPr>
            <a:r>
              <a:t>Représentation formelle sous forme de Graphe Orienté Acyclique :</a:t>
            </a:r>
          </a:p>
          <a:p>
            <a:pPr>
              <a:spcBef>
                <a:spcPts val="400"/>
              </a:spcBef>
              <a:defRPr sz="1300" b="1">
                <a:solidFill>
                  <a:srgbClr val="2563EB"/>
                </a:solidFill>
              </a:defRPr>
            </a:pPr>
            <a:r>
              <a:t>G = (V, E)  —  où V représente les tâches d'exécution et E les dépendances d'ordonnancement</a:t>
            </a:r>
          </a:p>
        </p:txBody>
      </p:sp>
      <p:sp>
        <p:nvSpPr>
          <p:cNvPr id="6" name="Rounded Rectangle 5"/>
          <p:cNvSpPr/>
          <p:nvPr/>
        </p:nvSpPr>
        <p:spPr>
          <a:xfrm>
            <a:off x="731520" y="2926080"/>
            <a:ext cx="3383280" cy="310896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108960"/>
            <a:ext cx="3017520" cy="2743200"/>
          </a:xfrm>
          <a:prstGeom prst="rect">
            <a:avLst/>
          </a:prstGeom>
          <a:noFill/>
        </p:spPr>
        <p:txBody>
          <a:bodyPr wrap="square">
            <a:spAutoFit/>
          </a:bodyPr>
          <a:lstStyle/>
          <a:p>
            <a:pPr>
              <a:defRPr sz="1300" b="1">
                <a:solidFill>
                  <a:srgbClr val="2563EB"/>
                </a:solidFill>
              </a:defRPr>
            </a:pPr>
            <a:r>
              <a:t>1. Découplage de l'État (State Backend)</a:t>
            </a:r>
          </a:p>
          <a:p>
            <a:pPr>
              <a:spcBef>
                <a:spcPts val="800"/>
              </a:spcBef>
              <a:defRPr sz="1050">
                <a:solidFill>
                  <a:srgbClr val="1E293B"/>
                </a:solidFill>
              </a:defRPr>
            </a:pPr>
            <a:r>
              <a:t>Une base de données relationnelle dédiée (PostgreSQL dans Airflow) trace l'état de chaque instance de tâche en temps réel :</a:t>
            </a:r>
            <a:br/>
            <a:br/>
            <a:r>
              <a:t>State ∈ {QUEUED, RUNNING, SUCCESS, FAILED, UPSTREAM_FAILED}</a:t>
            </a:r>
            <a:br/>
            <a:br/>
            <a:r>
              <a:t>En cas d'arrêt brutal du serveur orchestrateur, aucun état historique n'est corrompu ni perdu.</a:t>
            </a:r>
          </a:p>
        </p:txBody>
      </p:sp>
      <p:sp>
        <p:nvSpPr>
          <p:cNvPr id="8" name="Rounded Rectangle 7"/>
          <p:cNvSpPr/>
          <p:nvPr/>
        </p:nvSpPr>
        <p:spPr>
          <a:xfrm>
            <a:off x="4389120" y="2926080"/>
            <a:ext cx="3383280" cy="310896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3108960"/>
            <a:ext cx="3017520" cy="2743200"/>
          </a:xfrm>
          <a:prstGeom prst="rect">
            <a:avLst/>
          </a:prstGeom>
          <a:noFill/>
        </p:spPr>
        <p:txBody>
          <a:bodyPr wrap="square">
            <a:spAutoFit/>
          </a:bodyPr>
          <a:lstStyle/>
          <a:p>
            <a:pPr>
              <a:defRPr sz="1300" b="1">
                <a:solidFill>
                  <a:srgbClr val="059669"/>
                </a:solidFill>
              </a:defRPr>
            </a:pPr>
            <a:r>
              <a:t>2. Reprise Granulaire Sélective (Downstream Only)</a:t>
            </a:r>
          </a:p>
          <a:p>
            <a:pPr>
              <a:spcBef>
                <a:spcPts val="800"/>
              </a:spcBef>
              <a:defRPr sz="1050">
                <a:solidFill>
                  <a:srgbClr val="1E293B"/>
                </a:solidFill>
              </a:defRPr>
            </a:pPr>
            <a:r>
              <a:t>Si la tâche numéro 4 échoue après l'exécution réussie de 3 tâches lourdes :</a:t>
            </a:r>
            <a:br/>
            <a:br/>
            <a:r>
              <a:t>• Le DAG complet N'EST PAS relancé !</a:t>
            </a:r>
            <a:br/>
            <a:r>
              <a:t>• La reprise redémarre uniquement à partir de la tâche défaillante et de ses dépendances directes.</a:t>
            </a:r>
            <a:br/>
            <a:r>
              <a:t>• Économie massive de budget Cloud et respect des SLAs métiers.</a:t>
            </a:r>
          </a:p>
        </p:txBody>
      </p:sp>
      <p:sp>
        <p:nvSpPr>
          <p:cNvPr id="10" name="Rounded Rectangle 9"/>
          <p:cNvSpPr/>
          <p:nvPr/>
        </p:nvSpPr>
        <p:spPr>
          <a:xfrm>
            <a:off x="8046720" y="2926080"/>
            <a:ext cx="3383280" cy="3108960"/>
          </a:xfrm>
          <a:prstGeom prst="roundRect">
            <a:avLst/>
          </a:prstGeom>
          <a:solidFill>
            <a:srgbClr val="FFFFFF"/>
          </a:solidFill>
          <a:ln w="1905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3108960"/>
            <a:ext cx="3017520" cy="2743200"/>
          </a:xfrm>
          <a:prstGeom prst="rect">
            <a:avLst/>
          </a:prstGeom>
          <a:noFill/>
        </p:spPr>
        <p:txBody>
          <a:bodyPr wrap="square">
            <a:spAutoFit/>
          </a:bodyPr>
          <a:lstStyle/>
          <a:p>
            <a:pPr>
              <a:defRPr sz="1300" b="1">
                <a:solidFill>
                  <a:srgbClr val="9333EA"/>
                </a:solidFill>
              </a:defRPr>
            </a:pPr>
            <a:r>
              <a:t>3. Heartbeat &amp; Détection de Défaillance</a:t>
            </a:r>
          </a:p>
          <a:p>
            <a:pPr>
              <a:spcBef>
                <a:spcPts val="800"/>
              </a:spcBef>
              <a:defRPr sz="1050">
                <a:solidFill>
                  <a:srgbClr val="1E293B"/>
                </a:solidFill>
              </a:defRPr>
            </a:pPr>
            <a:r>
              <a:t>L'ordonnanceur sonde en permanence le signal de vie des workers :</a:t>
            </a:r>
            <a:br/>
            <a:br/>
            <a:r>
              <a:t>• Si un worker s'éteint brutalement, la tâche est immédiatement déclarée FAILED au lieu de rester bloquée en 'Zombie Task'.</a:t>
            </a:r>
            <a:br/>
            <a:r>
              <a:t>• Libération instantanée des verrous et reprise sans intervention humaine.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000" b="1">
                <a:solidFill>
                  <a:srgbClr val="2563EB"/>
                </a:solidFill>
              </a:defRPr>
            </a:pPr>
            <a:r>
              <a:t>FRAMEWORKS BIG DATA — THÈME 4</a:t>
            </a:r>
          </a:p>
          <a:p>
            <a:pPr>
              <a:spcBef>
                <a:spcPts val="400"/>
              </a:spcBef>
              <a:defRPr sz="2200" b="1">
                <a:solidFill>
                  <a:srgbClr val="1E293B"/>
                </a:solidFill>
              </a:defRPr>
            </a:pPr>
            <a:r>
              <a:t>Axe 1 Approfondi : Isolation par Conteneurs (K8s) et Orchestration par Actifs</a:t>
            </a:r>
          </a:p>
        </p:txBody>
      </p:sp>
      <p:sp>
        <p:nvSpPr>
          <p:cNvPr id="4" name="Rectangle 3"/>
          <p:cNvSpPr/>
          <p:nvPr/>
        </p:nvSpPr>
        <p:spPr>
          <a:xfrm>
            <a:off x="731520" y="1371600"/>
            <a:ext cx="10728655" cy="2743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4572000" cy="4572000"/>
          </a:xfrm>
          <a:prstGeom prst="rect">
            <a:avLst/>
          </a:prstGeom>
          <a:noFill/>
        </p:spPr>
        <p:txBody>
          <a:bodyPr wrap="square">
            <a:spAutoFit/>
          </a:bodyPr>
          <a:lstStyle/>
          <a:p>
            <a:pPr>
              <a:defRPr sz="1500" b="1">
                <a:solidFill>
                  <a:srgbClr val="1E293B"/>
                </a:solidFill>
              </a:defRPr>
            </a:pPr>
            <a:r>
              <a:t>Innovations architecturales pour la résilience de l'ordonnanceur :</a:t>
            </a:r>
          </a:p>
          <a:p>
            <a:pPr>
              <a:spcBef>
                <a:spcPts val="800"/>
              </a:spcBef>
              <a:defRPr sz="1100" b="1">
                <a:solidFill>
                  <a:srgbClr val="2563EB"/>
                </a:solidFill>
              </a:defRPr>
            </a:pPr>
            <a:r>
              <a:t>• Isolation des Conteneurs (KubernetesPodOperator) : </a:t>
            </a:r>
            <a:r>
              <a:rPr b="0">
                <a:solidFill>
                  <a:srgbClr val="1E293B"/>
                </a:solidFill>
              </a:rPr>
              <a:t>Exécution de chaque job Spark dans un pod K8s autonome avec quotas stricts de RAM/CPU. Un OOM détruit le pod sans affecter le cluster de l'orchestrateur.</a:t>
            </a:r>
          </a:p>
          <a:p>
            <a:pPr>
              <a:spcBef>
                <a:spcPts val="800"/>
              </a:spcBef>
              <a:defRPr sz="1100" b="1">
                <a:solidFill>
                  <a:srgbClr val="2563EB"/>
                </a:solidFill>
              </a:defRPr>
            </a:pPr>
            <a:r>
              <a:t>• Blocage d'Impact Aval (Upstream Blast Block) : </a:t>
            </a:r>
            <a:r>
              <a:rPr b="0">
                <a:solidFill>
                  <a:srgbClr val="1E293B"/>
                </a:solidFill>
              </a:rPr>
              <a:t>Lorsqu'une tâche échoue, les dépendances en aval sont marquées UPSTREAM_FAILED pour bloquer la publication de données incomplètes.</a:t>
            </a:r>
          </a:p>
          <a:p>
            <a:pPr>
              <a:spcBef>
                <a:spcPts val="800"/>
              </a:spcBef>
              <a:defRPr sz="1100" b="1">
                <a:solidFill>
                  <a:srgbClr val="2563EB"/>
                </a:solidFill>
              </a:defRPr>
            </a:pPr>
            <a:r>
              <a:t>• Auto-ajustement des Ressources au Retry : </a:t>
            </a:r>
            <a:r>
              <a:rPr b="0">
                <a:solidFill>
                  <a:srgbClr val="1E293B"/>
                </a:solidFill>
              </a:rPr>
              <a:t>Relance ciblée du pod avec doublement dynamique de la mémoire allouée (ex: de 8GiB à 16GiB) pour garantir le succès de l'exécution.</a:t>
            </a:r>
          </a:p>
          <a:p>
            <a:pPr>
              <a:spcBef>
                <a:spcPts val="800"/>
              </a:spcBef>
              <a:defRPr sz="1100" b="1">
                <a:solidFill>
                  <a:srgbClr val="2563EB"/>
                </a:solidFill>
              </a:defRPr>
            </a:pPr>
            <a:r>
              <a:t>• Orchestration Déclarative par Actifs (Dagster) : </a:t>
            </a:r>
            <a:r>
              <a:rPr b="0">
                <a:solidFill>
                  <a:srgbClr val="1E293B"/>
                </a:solidFill>
              </a:rPr>
              <a:t>Transition du modèle orienté tâches vers le modèle d'actifs : réconcilier uniquement les tables amont périmées.</a:t>
            </a:r>
          </a:p>
        </p:txBody>
      </p:sp>
      <p:pic>
        <p:nvPicPr>
          <p:cNvPr id="6" name="Picture 5" descr="orchestrator_dag_recovery_lifecycle.png"/>
          <p:cNvPicPr>
            <a:picLocks noChangeAspect="1"/>
          </p:cNvPicPr>
          <p:nvPr/>
        </p:nvPicPr>
        <p:blipFill>
          <a:blip r:embed="rId2"/>
          <a:stretch>
            <a:fillRect/>
          </a:stretch>
        </p:blipFill>
        <p:spPr>
          <a:xfrm>
            <a:off x="5486400" y="2662301"/>
            <a:ext cx="5943600" cy="253923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000" b="1">
                <a:solidFill>
                  <a:srgbClr val="2563EB"/>
                </a:solidFill>
              </a:defRPr>
            </a:pPr>
            <a:r>
              <a:t>FRAMEWORKS BIG DATA — THÈME 4</a:t>
            </a:r>
          </a:p>
          <a:p>
            <a:pPr>
              <a:spcBef>
                <a:spcPts val="400"/>
              </a:spcBef>
              <a:defRPr sz="2200" b="1">
                <a:solidFill>
                  <a:srgbClr val="1E293B"/>
                </a:solidFill>
              </a:defRPr>
            </a:pPr>
            <a:r>
              <a:t>Axe 2 : Les 6 Dimensions Normatives de la Qualité des Données</a:t>
            </a:r>
          </a:p>
        </p:txBody>
      </p:sp>
      <p:sp>
        <p:nvSpPr>
          <p:cNvPr id="4" name="Rectangle 3"/>
          <p:cNvSpPr/>
          <p:nvPr/>
        </p:nvSpPr>
        <p:spPr>
          <a:xfrm>
            <a:off x="731520" y="1371600"/>
            <a:ext cx="10728655" cy="2743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ata_quality_six_dimensions_fr.png"/>
          <p:cNvPicPr>
            <a:picLocks noChangeAspect="1"/>
          </p:cNvPicPr>
          <p:nvPr/>
        </p:nvPicPr>
        <p:blipFill>
          <a:blip r:embed="rId2"/>
          <a:stretch>
            <a:fillRect/>
          </a:stretch>
        </p:blipFill>
        <p:spPr>
          <a:xfrm>
            <a:off x="750641" y="1554480"/>
            <a:ext cx="10690412" cy="48463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000" b="1">
                <a:solidFill>
                  <a:srgbClr val="2563EB"/>
                </a:solidFill>
              </a:defRPr>
            </a:pPr>
            <a:r>
              <a:t>FRAMEWORKS BIG DATA — THÈME 4</a:t>
            </a:r>
          </a:p>
          <a:p>
            <a:pPr>
              <a:spcBef>
                <a:spcPts val="400"/>
              </a:spcBef>
              <a:defRPr sz="2200" b="1">
                <a:solidFill>
                  <a:srgbClr val="1E293B"/>
                </a:solidFill>
              </a:defRPr>
            </a:pPr>
            <a:r>
              <a:t>Axe 2 Architectural : Le Disjoncteur de Données (Circuit Breaker)</a:t>
            </a:r>
          </a:p>
        </p:txBody>
      </p:sp>
      <p:sp>
        <p:nvSpPr>
          <p:cNvPr id="4" name="Rectangle 3"/>
          <p:cNvSpPr/>
          <p:nvPr/>
        </p:nvSpPr>
        <p:spPr>
          <a:xfrm>
            <a:off x="731520" y="1371600"/>
            <a:ext cx="10728655" cy="2743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4572000" cy="4572000"/>
          </a:xfrm>
          <a:prstGeom prst="rect">
            <a:avLst/>
          </a:prstGeom>
          <a:noFill/>
        </p:spPr>
        <p:txBody>
          <a:bodyPr wrap="square">
            <a:spAutoFit/>
          </a:bodyPr>
          <a:lstStyle/>
          <a:p>
            <a:pPr>
              <a:defRPr sz="1500" b="1">
                <a:solidFill>
                  <a:srgbClr val="1E293B"/>
                </a:solidFill>
              </a:defRPr>
            </a:pPr>
            <a:r>
              <a:t>Isoler la corruption avant contamination de la couche Gold :</a:t>
            </a:r>
          </a:p>
          <a:p>
            <a:pPr>
              <a:spcBef>
                <a:spcPts val="800"/>
              </a:spcBef>
              <a:defRPr sz="1100" b="1">
                <a:solidFill>
                  <a:srgbClr val="059669"/>
                </a:solidFill>
              </a:defRPr>
            </a:pPr>
            <a:r>
              <a:t>• 1. Zone d'Ingestion Brute (Bronze) : </a:t>
            </a:r>
            <a:r>
              <a:rPr b="0">
                <a:solidFill>
                  <a:srgbClr val="1E293B"/>
                </a:solidFill>
              </a:rPr>
              <a:t>Réception du flux brut (Kafka / CDC / S3) et extraction immédiate des métriques de volume et de débit.</a:t>
            </a:r>
          </a:p>
          <a:p>
            <a:pPr>
              <a:spcBef>
                <a:spcPts val="800"/>
              </a:spcBef>
              <a:defRPr sz="1100" b="1">
                <a:solidFill>
                  <a:srgbClr val="059669"/>
                </a:solidFill>
              </a:defRPr>
            </a:pPr>
            <a:r>
              <a:t>• 2. Moteur de Validation Statistique : </a:t>
            </a:r>
            <a:r>
              <a:rPr b="0">
                <a:solidFill>
                  <a:srgbClr val="1E293B"/>
                </a:solidFill>
              </a:rPr>
              <a:t>Application de batteries de tests automatisés (Great Expectations, Soda) sur la couche Silver.</a:t>
            </a:r>
          </a:p>
          <a:p>
            <a:pPr>
              <a:spcBef>
                <a:spcPts val="800"/>
              </a:spcBef>
              <a:defRPr sz="1100" b="1">
                <a:solidFill>
                  <a:srgbClr val="2563EB"/>
                </a:solidFill>
              </a:defRPr>
            </a:pPr>
            <a:r>
              <a:t>• 3. Porte de Décision (Quality Gate) : </a:t>
            </a:r>
            <a:r>
              <a:rPr b="0">
                <a:solidFill>
                  <a:srgbClr val="1E293B"/>
                </a:solidFill>
              </a:rPr>
              <a:t>Évaluation des résultats : si 100% des règles critiques sont respectées, propagation vers la zone Gold.</a:t>
            </a:r>
          </a:p>
          <a:p>
            <a:pPr>
              <a:spcBef>
                <a:spcPts val="800"/>
              </a:spcBef>
              <a:defRPr sz="1100" b="1">
                <a:solidFill>
                  <a:srgbClr val="DC2626"/>
                </a:solidFill>
              </a:defRPr>
            </a:pPr>
            <a:r>
              <a:t>• 4. Déclenchement du Disjoncteur : </a:t>
            </a:r>
            <a:r>
              <a:rPr b="0">
                <a:solidFill>
                  <a:srgbClr val="1E293B"/>
                </a:solidFill>
              </a:rPr>
              <a:t>En cas d'anomalie : ouverture du coupe-circuit, dérivation vers la table de quarantaine (DLQ), gel des dashboards BI et alerte PagerDuty.</a:t>
            </a:r>
          </a:p>
        </p:txBody>
      </p:sp>
      <p:pic>
        <p:nvPicPr>
          <p:cNvPr id="6" name="Picture 5" descr="automated_data_quality_circuit_breaker.png"/>
          <p:cNvPicPr>
            <a:picLocks noChangeAspect="1"/>
          </p:cNvPicPr>
          <p:nvPr/>
        </p:nvPicPr>
        <p:blipFill>
          <a:blip r:embed="rId2"/>
          <a:stretch>
            <a:fillRect/>
          </a:stretch>
        </p:blipFill>
        <p:spPr>
          <a:xfrm>
            <a:off x="5486400" y="2754757"/>
            <a:ext cx="5943600" cy="2354326"/>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000" b="1">
                <a:solidFill>
                  <a:srgbClr val="2563EB"/>
                </a:solidFill>
              </a:defRPr>
            </a:pPr>
            <a:r>
              <a:t>FRAMEWORKS BIG DATA — THÈME 4</a:t>
            </a:r>
          </a:p>
          <a:p>
            <a:pPr>
              <a:spcBef>
                <a:spcPts val="400"/>
              </a:spcBef>
              <a:defRPr sz="2200" b="1">
                <a:solidFill>
                  <a:srgbClr val="1E293B"/>
                </a:solidFill>
              </a:defRPr>
            </a:pPr>
            <a:r>
              <a:t>Axe 2 en Production : Le Pattern Write-Audit-Publish (WAP)</a:t>
            </a:r>
          </a:p>
        </p:txBody>
      </p:sp>
      <p:sp>
        <p:nvSpPr>
          <p:cNvPr id="4" name="Rectangle 3"/>
          <p:cNvSpPr/>
          <p:nvPr/>
        </p:nvSpPr>
        <p:spPr>
          <a:xfrm>
            <a:off x="731520" y="1371600"/>
            <a:ext cx="10728655" cy="2743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4572000" cy="4572000"/>
          </a:xfrm>
          <a:prstGeom prst="rect">
            <a:avLst/>
          </a:prstGeom>
          <a:noFill/>
        </p:spPr>
        <p:txBody>
          <a:bodyPr wrap="square">
            <a:spAutoFit/>
          </a:bodyPr>
          <a:lstStyle/>
          <a:p>
            <a:pPr>
              <a:defRPr sz="1500" b="1">
                <a:solidFill>
                  <a:srgbClr val="1E293B"/>
                </a:solidFill>
              </a:defRPr>
            </a:pPr>
            <a:r>
              <a:t>Garanties d'atomicité dans les Lakehouses modernes (Iceberg, Delta Lake) :</a:t>
            </a:r>
          </a:p>
          <a:p>
            <a:pPr>
              <a:spcBef>
                <a:spcPts val="800"/>
              </a:spcBef>
              <a:defRPr sz="1100" b="1">
                <a:solidFill>
                  <a:srgbClr val="2563EB"/>
                </a:solidFill>
              </a:defRPr>
            </a:pPr>
            <a:r>
              <a:t>1. Phase d'Écriture Isolée (WRITE) : </a:t>
            </a:r>
            <a:r>
              <a:rPr b="0">
                <a:solidFill>
                  <a:srgbClr val="1E293B"/>
                </a:solidFill>
              </a:rPr>
              <a:t>Spark écrit les données transformées dans une branche de staging éphémère sans toucher à la branche 'main'.</a:t>
            </a:r>
          </a:p>
          <a:p>
            <a:pPr>
              <a:spcBef>
                <a:spcPts val="800"/>
              </a:spcBef>
              <a:defRPr sz="1100" b="1">
                <a:solidFill>
                  <a:srgbClr val="2563EB"/>
                </a:solidFill>
              </a:defRPr>
            </a:pPr>
            <a:r>
              <a:t>2. Phase d'Audit Automatisé (AUDIT) : </a:t>
            </a:r>
            <a:r>
              <a:rPr b="0">
                <a:solidFill>
                  <a:srgbClr val="1E293B"/>
                </a:solidFill>
              </a:rPr>
              <a:t>Exécution exhaustive des contrôles d'intégrité et de schémas directement sur la branche de staging.</a:t>
            </a:r>
          </a:p>
          <a:p>
            <a:pPr>
              <a:spcBef>
                <a:spcPts val="800"/>
              </a:spcBef>
              <a:defRPr sz="1100" b="1">
                <a:solidFill>
                  <a:srgbClr val="2563EB"/>
                </a:solidFill>
              </a:defRPr>
            </a:pPr>
            <a:r>
              <a:t>3. Publication Atomique (PUBLISH) : </a:t>
            </a:r>
            <a:r>
              <a:rPr b="0">
                <a:solidFill>
                  <a:srgbClr val="1E293B"/>
                </a:solidFill>
              </a:rPr>
              <a:t>En cas de succès : permutation atomique du pointeur de métadonnées (Fast-Forward) sans temps d'arrêt.</a:t>
            </a:r>
          </a:p>
          <a:p>
            <a:pPr>
              <a:spcBef>
                <a:spcPts val="800"/>
              </a:spcBef>
              <a:defRPr sz="1100" b="1">
                <a:solidFill>
                  <a:srgbClr val="2563EB"/>
                </a:solidFill>
              </a:defRPr>
            </a:pPr>
            <a:r>
              <a:t>4. Annulation sans Résidu (ABORT) : </a:t>
            </a:r>
            <a:r>
              <a:rPr b="0">
                <a:solidFill>
                  <a:srgbClr val="1E293B"/>
                </a:solidFill>
              </a:rPr>
              <a:t>En cas d'échec : suppression intégrale de la branche de staging (Zéro lecture sale / Dirty Reads).</a:t>
            </a:r>
          </a:p>
        </p:txBody>
      </p:sp>
      <p:pic>
        <p:nvPicPr>
          <p:cNvPr id="6" name="Picture 5" descr="write_audit_publish_wap_pattern.png"/>
          <p:cNvPicPr>
            <a:picLocks noChangeAspect="1"/>
          </p:cNvPicPr>
          <p:nvPr/>
        </p:nvPicPr>
        <p:blipFill>
          <a:blip r:embed="rId2"/>
          <a:stretch>
            <a:fillRect/>
          </a:stretch>
        </p:blipFill>
        <p:spPr>
          <a:xfrm>
            <a:off x="5486400" y="2662301"/>
            <a:ext cx="5943600" cy="2539238"/>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000" b="1">
                <a:solidFill>
                  <a:srgbClr val="2563EB"/>
                </a:solidFill>
              </a:defRPr>
            </a:pPr>
            <a:r>
              <a:t>FRAMEWORKS BIG DATA — THÈME 4</a:t>
            </a:r>
          </a:p>
          <a:p>
            <a:pPr>
              <a:spcBef>
                <a:spcPts val="400"/>
              </a:spcBef>
              <a:defRPr sz="2200" b="1">
                <a:solidFill>
                  <a:srgbClr val="1E293B"/>
                </a:solidFill>
              </a:defRPr>
            </a:pPr>
            <a:r>
              <a:t>Axe 3 : Diagnostic Accéléré par l'Observabilité et le Lignage de Données</a:t>
            </a:r>
          </a:p>
        </p:txBody>
      </p:sp>
      <p:sp>
        <p:nvSpPr>
          <p:cNvPr id="4" name="Rectangle 3"/>
          <p:cNvSpPr/>
          <p:nvPr/>
        </p:nvSpPr>
        <p:spPr>
          <a:xfrm>
            <a:off x="731520" y="1371600"/>
            <a:ext cx="10728655" cy="2743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4572000" cy="4572000"/>
          </a:xfrm>
          <a:prstGeom prst="rect">
            <a:avLst/>
          </a:prstGeom>
          <a:noFill/>
        </p:spPr>
        <p:txBody>
          <a:bodyPr wrap="square">
            <a:spAutoFit/>
          </a:bodyPr>
          <a:lstStyle/>
          <a:p>
            <a:pPr>
              <a:defRPr sz="1500" b="1">
                <a:solidFill>
                  <a:srgbClr val="1E293B"/>
                </a:solidFill>
              </a:defRPr>
            </a:pPr>
            <a:r>
              <a:t>Passer de la conjecture empirique au diagnostic instantané :</a:t>
            </a:r>
          </a:p>
          <a:p>
            <a:pPr>
              <a:spcBef>
                <a:spcPts val="800"/>
              </a:spcBef>
              <a:defRPr sz="1100" b="1">
                <a:solidFill>
                  <a:srgbClr val="9333EA"/>
                </a:solidFill>
              </a:defRPr>
            </a:pPr>
            <a:r>
              <a:t>• Les 4 Piliers de l'Observabilité : </a:t>
            </a:r>
            <a:r>
              <a:rPr b="0">
                <a:solidFill>
                  <a:srgbClr val="1E293B"/>
                </a:solidFill>
              </a:rPr>
              <a:t>Métriques (Metrics) + Journaux (Logs) + Traces d'exécution + Graphe de filiation (Data Lineage).</a:t>
            </a:r>
          </a:p>
          <a:p>
            <a:pPr>
              <a:spcBef>
                <a:spcPts val="800"/>
              </a:spcBef>
              <a:defRPr sz="1100" b="1">
                <a:solidFill>
                  <a:srgbClr val="9333EA"/>
                </a:solidFill>
              </a:defRPr>
            </a:pPr>
            <a:r>
              <a:t>• Analyse Causale Amont (RCA) : </a:t>
            </a:r>
            <a:r>
              <a:rPr b="0">
                <a:solidFill>
                  <a:srgbClr val="1E293B"/>
                </a:solidFill>
              </a:rPr>
              <a:t>Remonter les arêtes du graphe pour identifier l'origine exacte du bug (ex: modification de type dans la base amont).</a:t>
            </a:r>
          </a:p>
          <a:p>
            <a:pPr>
              <a:spcBef>
                <a:spcPts val="800"/>
              </a:spcBef>
              <a:defRPr sz="1100" b="1">
                <a:solidFill>
                  <a:srgbClr val="9333EA"/>
                </a:solidFill>
              </a:defRPr>
            </a:pPr>
            <a:r>
              <a:t>• Rayon d'Impact Aval (Blast Radius) : </a:t>
            </a:r>
            <a:r>
              <a:rPr b="0">
                <a:solidFill>
                  <a:srgbClr val="1E293B"/>
                </a:solidFill>
              </a:rPr>
              <a:t>Identifier instantanément tous les rapports, consommateurs et modèles ML impactés pour les geler préventivement.</a:t>
            </a:r>
          </a:p>
          <a:p>
            <a:pPr>
              <a:spcBef>
                <a:spcPts val="800"/>
              </a:spcBef>
              <a:defRPr sz="1100" b="1">
                <a:solidFill>
                  <a:srgbClr val="9333EA"/>
                </a:solidFill>
              </a:defRPr>
            </a:pPr>
            <a:r>
              <a:t>• Le Standard Ouvert OpenLineage : </a:t>
            </a:r>
            <a:r>
              <a:rPr b="0">
                <a:solidFill>
                  <a:srgbClr val="1E293B"/>
                </a:solidFill>
              </a:rPr>
              <a:t>Protocole universel émettant des événements de métadonnées JSON en continu vers Marquez ou DataHub.</a:t>
            </a:r>
          </a:p>
        </p:txBody>
      </p:sp>
      <p:pic>
        <p:nvPicPr>
          <p:cNvPr id="6" name="Picture 5" descr="pipeline_observability_and_lineage.png"/>
          <p:cNvPicPr>
            <a:picLocks noChangeAspect="1"/>
          </p:cNvPicPr>
          <p:nvPr/>
        </p:nvPicPr>
        <p:blipFill>
          <a:blip r:embed="rId2"/>
          <a:stretch>
            <a:fillRect/>
          </a:stretch>
        </p:blipFill>
        <p:spPr>
          <a:xfrm>
            <a:off x="5486400" y="2630932"/>
            <a:ext cx="5943600" cy="260197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000" b="1">
                <a:solidFill>
                  <a:srgbClr val="2563EB"/>
                </a:solidFill>
              </a:defRPr>
            </a:pPr>
            <a:r>
              <a:t>FRAMEWORKS BIG DATA — THÈME 4</a:t>
            </a:r>
          </a:p>
          <a:p>
            <a:pPr>
              <a:spcBef>
                <a:spcPts val="400"/>
              </a:spcBef>
              <a:defRPr sz="2200" b="1">
                <a:solidFill>
                  <a:srgbClr val="1E293B"/>
                </a:solidFill>
              </a:defRPr>
            </a:pPr>
            <a:r>
              <a:t>Axe 3 au Microscope : Précision Chirurgicale du Column-Level Lineage</a:t>
            </a:r>
          </a:p>
        </p:txBody>
      </p:sp>
      <p:sp>
        <p:nvSpPr>
          <p:cNvPr id="4" name="Rectangle 3"/>
          <p:cNvSpPr/>
          <p:nvPr/>
        </p:nvSpPr>
        <p:spPr>
          <a:xfrm>
            <a:off x="731520" y="1371600"/>
            <a:ext cx="10728655" cy="2743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4572000" cy="4572000"/>
          </a:xfrm>
          <a:prstGeom prst="rect">
            <a:avLst/>
          </a:prstGeom>
          <a:noFill/>
        </p:spPr>
        <p:txBody>
          <a:bodyPr wrap="square">
            <a:spAutoFit/>
          </a:bodyPr>
          <a:lstStyle/>
          <a:p>
            <a:pPr>
              <a:defRPr sz="1500" b="1">
                <a:solidFill>
                  <a:srgbClr val="1E293B"/>
                </a:solidFill>
              </a:defRPr>
            </a:pPr>
            <a:r>
              <a:t>Localisation chirurgicale des anomalies de calcul :</a:t>
            </a:r>
          </a:p>
          <a:p>
            <a:pPr>
              <a:spcBef>
                <a:spcPts val="800"/>
              </a:spcBef>
              <a:defRPr sz="1100" b="1">
                <a:solidFill>
                  <a:srgbClr val="2563EB"/>
                </a:solidFill>
              </a:defRPr>
            </a:pPr>
            <a:r>
              <a:t>• Insuffisance du lignage de table : </a:t>
            </a:r>
            <a:r>
              <a:rPr b="0">
                <a:solidFill>
                  <a:srgbClr val="1E293B"/>
                </a:solidFill>
              </a:rPr>
              <a:t>Indique seulement que 'gold_kpi' est compromise suite à une erreur dans 'forex_rates', sans détail granulaire.</a:t>
            </a:r>
          </a:p>
          <a:p>
            <a:pPr>
              <a:spcBef>
                <a:spcPts val="800"/>
              </a:spcBef>
              <a:defRPr sz="1100" b="1">
                <a:solidFill>
                  <a:srgbClr val="2563EB"/>
                </a:solidFill>
              </a:defRPr>
            </a:pPr>
            <a:r>
              <a:t>• Lignage de Colonne (Column-Level) : </a:t>
            </a:r>
            <a:r>
              <a:rPr b="0">
                <a:solidFill>
                  <a:srgbClr val="1E293B"/>
                </a:solidFill>
              </a:rPr>
              <a:t>Lie directement l'expression arithmétique Spark aux colonnes sources concernées :
revenue_usd = (amount_cents / 100.0) * rate_to_usd</a:t>
            </a:r>
          </a:p>
          <a:p>
            <a:pPr>
              <a:spcBef>
                <a:spcPts val="800"/>
              </a:spcBef>
              <a:defRPr sz="1100" b="1">
                <a:solidFill>
                  <a:srgbClr val="2563EB"/>
                </a:solidFill>
              </a:defRPr>
            </a:pPr>
            <a:r>
              <a:t>• Isolement Racine Immédiat : </a:t>
            </a:r>
            <a:r>
              <a:rPr b="0">
                <a:solidFill>
                  <a:srgbClr val="1E293B"/>
                </a:solidFill>
              </a:rPr>
              <a:t>Identification de la cause unique : valeur NULL dans rate_to_usd, sans inspecter inutilement les autres colonnes.</a:t>
            </a:r>
          </a:p>
          <a:p>
            <a:pPr>
              <a:spcBef>
                <a:spcPts val="800"/>
              </a:spcBef>
              <a:defRPr sz="1100" b="1">
                <a:solidFill>
                  <a:srgbClr val="2563EB"/>
                </a:solidFill>
              </a:defRPr>
            </a:pPr>
            <a:r>
              <a:t>• Réduction Drastique du MTTR : </a:t>
            </a:r>
            <a:r>
              <a:rPr b="0">
                <a:solidFill>
                  <a:srgbClr val="1E293B"/>
                </a:solidFill>
              </a:rPr>
              <a:t>Le temps moyen de résolution passe de plusieurs heures de tâtonnement à quelques secondes.</a:t>
            </a:r>
          </a:p>
        </p:txBody>
      </p:sp>
      <p:pic>
        <p:nvPicPr>
          <p:cNvPr id="6" name="Picture 5" descr="column_level_lineage_graph.png"/>
          <p:cNvPicPr>
            <a:picLocks noChangeAspect="1"/>
          </p:cNvPicPr>
          <p:nvPr/>
        </p:nvPicPr>
        <p:blipFill>
          <a:blip r:embed="rId2"/>
          <a:stretch>
            <a:fillRect/>
          </a:stretch>
        </p:blipFill>
        <p:spPr>
          <a:xfrm>
            <a:off x="5486400" y="2662301"/>
            <a:ext cx="5943600" cy="2539238"/>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000" b="1">
                <a:solidFill>
                  <a:srgbClr val="2563EB"/>
                </a:solidFill>
              </a:defRPr>
            </a:pPr>
            <a:r>
              <a:t>FRAMEWORKS BIG DATA — THÈME 4</a:t>
            </a:r>
          </a:p>
          <a:p>
            <a:pPr>
              <a:spcBef>
                <a:spcPts val="400"/>
              </a:spcBef>
              <a:defRPr sz="2200" b="1">
                <a:solidFill>
                  <a:srgbClr val="1E293B"/>
                </a:solidFill>
              </a:defRPr>
            </a:pPr>
            <a:r>
              <a:t>Axe 4 : Risques et Effets Pervers des Réessais Naïfs (Naive Retries)</a:t>
            </a:r>
          </a:p>
        </p:txBody>
      </p:sp>
      <p:sp>
        <p:nvSpPr>
          <p:cNvPr id="4" name="Rectangle 3"/>
          <p:cNvSpPr/>
          <p:nvPr/>
        </p:nvSpPr>
        <p:spPr>
          <a:xfrm>
            <a:off x="731520" y="1371600"/>
            <a:ext cx="10728655" cy="2743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4572000" cy="4572000"/>
          </a:xfrm>
          <a:prstGeom prst="rect">
            <a:avLst/>
          </a:prstGeom>
          <a:noFill/>
        </p:spPr>
        <p:txBody>
          <a:bodyPr wrap="square">
            <a:spAutoFit/>
          </a:bodyPr>
          <a:lstStyle/>
          <a:p>
            <a:pPr>
              <a:defRPr sz="1500" b="1">
                <a:solidFill>
                  <a:srgbClr val="DC2626"/>
                </a:solidFill>
              </a:defRPr>
            </a:pPr>
            <a:r>
              <a:t>Quand le mécanisme de reprise aggrave la catastrophe :</a:t>
            </a:r>
          </a:p>
          <a:p>
            <a:pPr>
              <a:spcBef>
                <a:spcPts val="800"/>
              </a:spcBef>
              <a:defRPr sz="1100" b="1">
                <a:solidFill>
                  <a:srgbClr val="DC2626"/>
                </a:solidFill>
              </a:defRPr>
            </a:pPr>
            <a:r>
              <a:t>1. Tempête de Réessais (Retry Storm) : </a:t>
            </a:r>
            <a:r>
              <a:rPr b="0">
                <a:solidFill>
                  <a:srgbClr val="1E293B"/>
                </a:solidFill>
              </a:rPr>
              <a:t>Un délai fixe pousse des dizaines de tâches à réattaquer simultanément une base de données en surcharge (Thundering Herd).</a:t>
            </a:r>
          </a:p>
          <a:p>
            <a:pPr>
              <a:spcBef>
                <a:spcPts val="800"/>
              </a:spcBef>
              <a:defRPr sz="1100" b="1">
                <a:solidFill>
                  <a:srgbClr val="DC2626"/>
                </a:solidFill>
              </a:defRPr>
            </a:pPr>
            <a:r>
              <a:t>2. Opérations Non-Idempotentes : </a:t>
            </a:r>
            <a:r>
              <a:rPr b="0">
                <a:solidFill>
                  <a:srgbClr val="1E293B"/>
                </a:solidFill>
              </a:rPr>
              <a:t>Réexécuter aveuglément un 'INSERT INTO' après une coupure réseau produit des enregistrements en double : f(f(x)) ≠ f(x).</a:t>
            </a:r>
          </a:p>
          <a:p>
            <a:pPr>
              <a:spcBef>
                <a:spcPts val="800"/>
              </a:spcBef>
              <a:defRPr sz="1100" b="1">
                <a:solidFill>
                  <a:srgbClr val="DC2626"/>
                </a:solidFill>
              </a:defRPr>
            </a:pPr>
            <a:r>
              <a:t>3. La Pilule Empoisonnée (Poison Pill) : </a:t>
            </a:r>
            <a:r>
              <a:rPr b="0">
                <a:solidFill>
                  <a:srgbClr val="1E293B"/>
                </a:solidFill>
              </a:rPr>
              <a:t>Anomalie déterministe dans une ligne (ex: cast invalide int('bad_str')). Relancer 10 fois échouera 10 fois à coup sûr.</a:t>
            </a:r>
          </a:p>
          <a:p>
            <a:pPr>
              <a:spcBef>
                <a:spcPts val="800"/>
              </a:spcBef>
              <a:defRPr sz="1100" b="1">
                <a:solidFill>
                  <a:srgbClr val="DC2626"/>
                </a:solidFill>
              </a:defRPr>
            </a:pPr>
            <a:r>
              <a:t>4. Hémorragie Budgétaire Cloud : </a:t>
            </a:r>
            <a:r>
              <a:rPr b="0">
                <a:solidFill>
                  <a:srgbClr val="1E293B"/>
                </a:solidFill>
              </a:rPr>
              <a:t>Consommation futile de milliers d'heures de calcul pour des tâches mathématiquement condamnées à l'échec.</a:t>
            </a:r>
          </a:p>
        </p:txBody>
      </p:sp>
      <p:pic>
        <p:nvPicPr>
          <p:cNvPr id="6" name="Picture 5" descr="retry_mechanisms_and_failure_modes.png"/>
          <p:cNvPicPr>
            <a:picLocks noChangeAspect="1"/>
          </p:cNvPicPr>
          <p:nvPr/>
        </p:nvPicPr>
        <p:blipFill>
          <a:blip r:embed="rId2"/>
          <a:stretch>
            <a:fillRect/>
          </a:stretch>
        </p:blipFill>
        <p:spPr>
          <a:xfrm>
            <a:off x="5486400" y="2569845"/>
            <a:ext cx="5943600" cy="272415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000" b="1">
                <a:solidFill>
                  <a:srgbClr val="2563EB"/>
                </a:solidFill>
              </a:defRPr>
            </a:pPr>
            <a:r>
              <a:t>FRAMEWORKS BIG DATA — THÈME 4</a:t>
            </a:r>
          </a:p>
          <a:p>
            <a:pPr>
              <a:spcBef>
                <a:spcPts val="400"/>
              </a:spcBef>
              <a:defRPr sz="2200" b="1">
                <a:solidFill>
                  <a:srgbClr val="1E293B"/>
                </a:solidFill>
              </a:defRPr>
            </a:pPr>
            <a:r>
              <a:t>Axe 4 Ingénierie : Solutions Avancées et Alternatives Résilientes</a:t>
            </a:r>
          </a:p>
        </p:txBody>
      </p:sp>
      <p:sp>
        <p:nvSpPr>
          <p:cNvPr id="4" name="Rectangle 3"/>
          <p:cNvSpPr/>
          <p:nvPr/>
        </p:nvSpPr>
        <p:spPr>
          <a:xfrm>
            <a:off x="731520" y="1371600"/>
            <a:ext cx="10728655" cy="2743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728655" cy="4572000"/>
          </a:xfrm>
          <a:prstGeom prst="rect">
            <a:avLst/>
          </a:prstGeom>
          <a:noFill/>
        </p:spPr>
        <p:txBody>
          <a:bodyPr wrap="square">
            <a:spAutoFit/>
          </a:bodyPr>
          <a:lstStyle/>
          <a:p>
            <a:pPr>
              <a:defRPr sz="1500" b="1">
                <a:solidFill>
                  <a:srgbClr val="1E293B"/>
                </a:solidFill>
              </a:defRPr>
            </a:pPr>
            <a:r>
              <a:t>L'arsenal architectural pour des reprises saines et robustes :</a:t>
            </a:r>
          </a:p>
        </p:txBody>
      </p:sp>
      <p:sp>
        <p:nvSpPr>
          <p:cNvPr id="6" name="Rounded Rectangle 5"/>
          <p:cNvSpPr/>
          <p:nvPr/>
        </p:nvSpPr>
        <p:spPr>
          <a:xfrm>
            <a:off x="731520" y="2651760"/>
            <a:ext cx="3383280" cy="33832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834640"/>
            <a:ext cx="3017520" cy="3017520"/>
          </a:xfrm>
          <a:prstGeom prst="rect">
            <a:avLst/>
          </a:prstGeom>
          <a:noFill/>
        </p:spPr>
        <p:txBody>
          <a:bodyPr wrap="square">
            <a:spAutoFit/>
          </a:bodyPr>
          <a:lstStyle/>
          <a:p>
            <a:pPr>
              <a:defRPr sz="1300" b="1">
                <a:solidFill>
                  <a:srgbClr val="2563EB"/>
                </a:solidFill>
              </a:defRPr>
            </a:pPr>
            <a:r>
              <a:t>1. Backoff Exponentiel avec Gigue (Full Jitter)</a:t>
            </a:r>
          </a:p>
          <a:p>
            <a:pPr>
              <a:spcBef>
                <a:spcPts val="800"/>
              </a:spcBef>
              <a:defRPr sz="1050">
                <a:solidFill>
                  <a:srgbClr val="1E293B"/>
                </a:solidFill>
              </a:defRPr>
            </a:pPr>
            <a:r>
              <a:t>Espacement exponentiel des délais d'attente combiné à un bruit aléatoire uniforme :</a:t>
            </a:r>
            <a:br/>
            <a:br/>
            <a:r>
              <a:t>t_wait = min(t_max, U(0, t_base · 2^attempt))</a:t>
            </a:r>
            <a:br/>
            <a:br/>
            <a:r>
              <a:t>• Désynchronisation des requêtes concurrentes.</a:t>
            </a:r>
            <a:br/>
            <a:r>
              <a:t>• Dissolution du troupeau tonitruant pour permettre aux systèmes cibles de respirer et guérir.</a:t>
            </a:r>
          </a:p>
        </p:txBody>
      </p:sp>
      <p:sp>
        <p:nvSpPr>
          <p:cNvPr id="8" name="Rounded Rectangle 7"/>
          <p:cNvSpPr/>
          <p:nvPr/>
        </p:nvSpPr>
        <p:spPr>
          <a:xfrm>
            <a:off x="4389120" y="2651760"/>
            <a:ext cx="3383280" cy="338328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834640"/>
            <a:ext cx="3017520" cy="3017520"/>
          </a:xfrm>
          <a:prstGeom prst="rect">
            <a:avLst/>
          </a:prstGeom>
          <a:noFill/>
        </p:spPr>
        <p:txBody>
          <a:bodyPr wrap="square">
            <a:spAutoFit/>
          </a:bodyPr>
          <a:lstStyle/>
          <a:p>
            <a:pPr>
              <a:defRPr sz="1300" b="1">
                <a:solidFill>
                  <a:srgbClr val="059669"/>
                </a:solidFill>
              </a:defRPr>
            </a:pPr>
            <a:r>
              <a:t>2. Idempotence Stricte (ACID Merge)</a:t>
            </a:r>
          </a:p>
          <a:p>
            <a:pPr>
              <a:spcBef>
                <a:spcPts val="800"/>
              </a:spcBef>
              <a:defRPr sz="1050">
                <a:solidFill>
                  <a:srgbClr val="1E293B"/>
                </a:solidFill>
              </a:defRPr>
            </a:pPr>
            <a:r>
              <a:t>Garantie mathématique qu'exécuter l'opération 1 fois ou 100 fois produit rigoureusement le même état :</a:t>
            </a:r>
            <a:br/>
            <a:br/>
            <a:r>
              <a:t>f(f(x)) = f(x)</a:t>
            </a:r>
            <a:br/>
            <a:br/>
            <a:r>
              <a:t>• Substitution de l'INSERT aveugle par l'instruction atomique MERGE / UPSERT dans Delta Lake et Iceberg.</a:t>
            </a:r>
            <a:br/>
            <a:r>
              <a:t>• Élimination absolue de tout risque de duplication.</a:t>
            </a:r>
          </a:p>
        </p:txBody>
      </p:sp>
      <p:sp>
        <p:nvSpPr>
          <p:cNvPr id="10" name="Rounded Rectangle 9"/>
          <p:cNvSpPr/>
          <p:nvPr/>
        </p:nvSpPr>
        <p:spPr>
          <a:xfrm>
            <a:off x="8046720" y="2651760"/>
            <a:ext cx="3383280" cy="3383280"/>
          </a:xfrm>
          <a:prstGeom prst="roundRect">
            <a:avLst/>
          </a:prstGeom>
          <a:solidFill>
            <a:srgbClr val="FFFFFF"/>
          </a:solidFill>
          <a:ln w="1905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2834640"/>
            <a:ext cx="3017520" cy="3017520"/>
          </a:xfrm>
          <a:prstGeom prst="rect">
            <a:avLst/>
          </a:prstGeom>
          <a:noFill/>
        </p:spPr>
        <p:txBody>
          <a:bodyPr wrap="square">
            <a:spAutoFit/>
          </a:bodyPr>
          <a:lstStyle/>
          <a:p>
            <a:pPr>
              <a:defRPr sz="1300" b="1">
                <a:solidFill>
                  <a:srgbClr val="9333EA"/>
                </a:solidFill>
              </a:defRPr>
            </a:pPr>
            <a:r>
              <a:t>3. Files de Quarantaine (Dead Letter Queues - DLQ)</a:t>
            </a:r>
          </a:p>
          <a:p>
            <a:pPr>
              <a:spcBef>
                <a:spcPts val="800"/>
              </a:spcBef>
              <a:defRPr sz="1050">
                <a:solidFill>
                  <a:srgbClr val="1E293B"/>
                </a:solidFill>
              </a:defRPr>
            </a:pPr>
            <a:r>
              <a:t>Traitement ciblé des pilules empoisonnées :</a:t>
            </a:r>
            <a:br/>
            <a:br/>
            <a:r>
              <a:t>• Capture des lignes défaillantes via bloc Try-Catch et routage vers une table quarantine_records.</a:t>
            </a:r>
            <a:br/>
            <a:r>
              <a:t>• Poursuite ininterrompue du traitement des millions de lignes saines restantes.</a:t>
            </a:r>
            <a:br/>
            <a:r>
              <a:t>• Notification des ingénieurs pour inspection ultérieure.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000" b="1">
                <a:solidFill>
                  <a:srgbClr val="2563EB"/>
                </a:solidFill>
              </a:defRPr>
            </a:pPr>
            <a:r>
              <a:t>FRAMEWORKS BIG DATA — THÈME 4</a:t>
            </a:r>
          </a:p>
          <a:p>
            <a:pPr>
              <a:spcBef>
                <a:spcPts val="400"/>
              </a:spcBef>
              <a:defRPr sz="2200" b="1">
                <a:solidFill>
                  <a:srgbClr val="1E293B"/>
                </a:solidFill>
              </a:defRPr>
            </a:pPr>
            <a:r>
              <a:t>Matrice Comparative : Approche Naïve vs Architecture de Production</a:t>
            </a:r>
          </a:p>
        </p:txBody>
      </p:sp>
      <p:sp>
        <p:nvSpPr>
          <p:cNvPr id="4" name="Rectangle 3"/>
          <p:cNvSpPr/>
          <p:nvPr/>
        </p:nvSpPr>
        <p:spPr>
          <a:xfrm>
            <a:off x="731520" y="1371600"/>
            <a:ext cx="10728655" cy="27432"/>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731520" y="1645920"/>
          <a:ext cx="10728655" cy="4389120"/>
        </p:xfrm>
        <a:graphic>
          <a:graphicData uri="http://schemas.openxmlformats.org/drawingml/2006/table">
            <a:tbl>
              <a:tblPr firstRow="1" bandRow="1">
                <a:tableStyleId>{5C22544A-7EE6-4342-B048-85BDC9FD1C3A}</a:tableStyleId>
              </a:tblPr>
              <a:tblGrid>
                <a:gridCol w="2011680"/>
                <a:gridCol w="2926080"/>
                <a:gridCol w="3474720"/>
                <a:gridCol w="2316175"/>
              </a:tblGrid>
              <a:tr h="731520">
                <a:tc>
                  <a:txBody>
                    <a:bodyPr/>
                    <a:lstStyle/>
                    <a:p>
                      <a:pPr>
                        <a:defRPr sz="1100" b="1">
                          <a:solidFill>
                            <a:srgbClr val="FFFFFF"/>
                          </a:solidFill>
                        </a:defRPr>
                      </a:pPr>
                      <a:r>
                        <a:t>Dimension d'Ingénierie</a:t>
                      </a:r>
                    </a:p>
                  </a:txBody>
                  <a:tcPr>
                    <a:solidFill>
                      <a:srgbClr val="1E293B"/>
                    </a:solidFill>
                  </a:tcPr>
                </a:tc>
                <a:tc>
                  <a:txBody>
                    <a:bodyPr/>
                    <a:lstStyle/>
                    <a:p>
                      <a:pPr>
                        <a:defRPr sz="1100" b="1">
                          <a:solidFill>
                            <a:srgbClr val="FFFFFF"/>
                          </a:solidFill>
                        </a:defRPr>
                      </a:pPr>
                      <a:r>
                        <a:t>Pratique Naïve Classique</a:t>
                      </a:r>
                    </a:p>
                  </a:txBody>
                  <a:tcPr>
                    <a:solidFill>
                      <a:srgbClr val="1E293B"/>
                    </a:solidFill>
                  </a:tcPr>
                </a:tc>
                <a:tc>
                  <a:txBody>
                    <a:bodyPr/>
                    <a:lstStyle/>
                    <a:p>
                      <a:pPr>
                        <a:defRPr sz="1100" b="1">
                          <a:solidFill>
                            <a:srgbClr val="FFFFFF"/>
                          </a:solidFill>
                        </a:defRPr>
                      </a:pPr>
                      <a:r>
                        <a:t>Architecture Résiliente de Production</a:t>
                      </a:r>
                    </a:p>
                  </a:txBody>
                  <a:tcPr>
                    <a:solidFill>
                      <a:srgbClr val="1E293B"/>
                    </a:solidFill>
                  </a:tcPr>
                </a:tc>
                <a:tc>
                  <a:txBody>
                    <a:bodyPr/>
                    <a:lstStyle/>
                    <a:p>
                      <a:pPr>
                        <a:defRPr sz="1100" b="1">
                          <a:solidFill>
                            <a:srgbClr val="FFFFFF"/>
                          </a:solidFill>
                        </a:defRPr>
                      </a:pPr>
                      <a:r>
                        <a:t>Outils &amp; Technologies</a:t>
                      </a:r>
                    </a:p>
                  </a:txBody>
                  <a:tcPr>
                    <a:solidFill>
                      <a:srgbClr val="1E293B"/>
                    </a:solidFill>
                  </a:tcPr>
                </a:tc>
              </a:tr>
              <a:tr h="731520">
                <a:tc>
                  <a:txBody>
                    <a:bodyPr/>
                    <a:lstStyle/>
                    <a:p>
                      <a:pPr>
                        <a:defRPr sz="1000" b="1">
                          <a:solidFill>
                            <a:srgbClr val="1E293B"/>
                          </a:solidFill>
                        </a:defRPr>
                      </a:pPr>
                      <a:r>
                        <a:t>Gestion de Reprise</a:t>
                      </a:r>
                    </a:p>
                  </a:txBody>
                  <a:tcPr>
                    <a:solidFill>
                      <a:srgbClr val="FFFFFF"/>
                    </a:solidFill>
                  </a:tcPr>
                </a:tc>
                <a:tc>
                  <a:txBody>
                    <a:bodyPr/>
                    <a:lstStyle/>
                    <a:p>
                      <a:pPr>
                        <a:defRPr sz="1000" b="0">
                          <a:solidFill>
                            <a:srgbClr val="1E293B"/>
                          </a:solidFill>
                        </a:defRPr>
                      </a:pPr>
                      <a:r>
                        <a:t>Relance intégrale du DAG depuis le début</a:t>
                      </a:r>
                    </a:p>
                  </a:txBody>
                  <a:tcPr>
                    <a:solidFill>
                      <a:srgbClr val="FFFFFF"/>
                    </a:solidFill>
                  </a:tcPr>
                </a:tc>
                <a:tc>
                  <a:txBody>
                    <a:bodyPr/>
                    <a:lstStyle/>
                    <a:p>
                      <a:pPr>
                        <a:defRPr sz="1000" b="0">
                          <a:solidFill>
                            <a:srgbClr val="1E293B"/>
                          </a:solidFill>
                        </a:defRPr>
                      </a:pPr>
                      <a:r>
                        <a:t>Reprise sélective granulaire et isolation en pods K8s</a:t>
                      </a:r>
                    </a:p>
                  </a:txBody>
                  <a:tcPr>
                    <a:solidFill>
                      <a:srgbClr val="FFFFFF"/>
                    </a:solidFill>
                  </a:tcPr>
                </a:tc>
                <a:tc>
                  <a:txBody>
                    <a:bodyPr/>
                    <a:lstStyle/>
                    <a:p>
                      <a:pPr>
                        <a:defRPr sz="1000" b="0">
                          <a:solidFill>
                            <a:srgbClr val="1E293B"/>
                          </a:solidFill>
                        </a:defRPr>
                      </a:pPr>
                      <a:r>
                        <a:t>Airflow K8s, Dagster Assets</a:t>
                      </a:r>
                    </a:p>
                  </a:txBody>
                  <a:tcPr>
                    <a:solidFill>
                      <a:srgbClr val="FFFFFF"/>
                    </a:solidFill>
                  </a:tcPr>
                </a:tc>
              </a:tr>
              <a:tr h="731520">
                <a:tc>
                  <a:txBody>
                    <a:bodyPr/>
                    <a:lstStyle/>
                    <a:p>
                      <a:pPr>
                        <a:defRPr sz="1000" b="1">
                          <a:solidFill>
                            <a:srgbClr val="1E293B"/>
                          </a:solidFill>
                        </a:defRPr>
                      </a:pPr>
                      <a:r>
                        <a:t>Contrôle Qualité</a:t>
                      </a:r>
                    </a:p>
                  </a:txBody>
                  <a:tcPr>
                    <a:solidFill>
                      <a:srgbClr val="F1F5F9"/>
                    </a:solidFill>
                  </a:tcPr>
                </a:tc>
                <a:tc>
                  <a:txBody>
                    <a:bodyPr/>
                    <a:lstStyle/>
                    <a:p>
                      <a:pPr>
                        <a:defRPr sz="1000" b="0">
                          <a:solidFill>
                            <a:srgbClr val="1E293B"/>
                          </a:solidFill>
                        </a:defRPr>
                      </a:pPr>
                      <a:r>
                        <a:t>Audit manuel, ou attente des plaintes métiers</a:t>
                      </a:r>
                    </a:p>
                  </a:txBody>
                  <a:tcPr>
                    <a:solidFill>
                      <a:srgbClr val="F1F5F9"/>
                    </a:solidFill>
                  </a:tcPr>
                </a:tc>
                <a:tc>
                  <a:txBody>
                    <a:bodyPr/>
                    <a:lstStyle/>
                    <a:p>
                      <a:pPr>
                        <a:defRPr sz="1000" b="0">
                          <a:solidFill>
                            <a:srgbClr val="1E293B"/>
                          </a:solidFill>
                        </a:defRPr>
                      </a:pPr>
                      <a:r>
                        <a:t>Contrôles d'assertions proactifs et disjoncteurs</a:t>
                      </a:r>
                    </a:p>
                  </a:txBody>
                  <a:tcPr>
                    <a:solidFill>
                      <a:srgbClr val="F1F5F9"/>
                    </a:solidFill>
                  </a:tcPr>
                </a:tc>
                <a:tc>
                  <a:txBody>
                    <a:bodyPr/>
                    <a:lstStyle/>
                    <a:p>
                      <a:pPr>
                        <a:defRPr sz="1000" b="0">
                          <a:solidFill>
                            <a:srgbClr val="1E293B"/>
                          </a:solidFill>
                        </a:defRPr>
                      </a:pPr>
                      <a:r>
                        <a:t>Great Expectations, Soda Core</a:t>
                      </a:r>
                    </a:p>
                  </a:txBody>
                  <a:tcPr>
                    <a:solidFill>
                      <a:srgbClr val="F1F5F9"/>
                    </a:solidFill>
                  </a:tcPr>
                </a:tc>
              </a:tr>
              <a:tr h="731520">
                <a:tc>
                  <a:txBody>
                    <a:bodyPr/>
                    <a:lstStyle/>
                    <a:p>
                      <a:pPr>
                        <a:defRPr sz="1000" b="1">
                          <a:solidFill>
                            <a:srgbClr val="1E293B"/>
                          </a:solidFill>
                        </a:defRPr>
                      </a:pPr>
                      <a:r>
                        <a:t>Diagnostic des Pannes</a:t>
                      </a:r>
                    </a:p>
                  </a:txBody>
                  <a:tcPr>
                    <a:solidFill>
                      <a:srgbClr val="FFFFFF"/>
                    </a:solidFill>
                  </a:tcPr>
                </a:tc>
                <a:tc>
                  <a:txBody>
                    <a:bodyPr/>
                    <a:lstStyle/>
                    <a:p>
                      <a:pPr>
                        <a:defRPr sz="1000" b="0">
                          <a:solidFill>
                            <a:srgbClr val="1E293B"/>
                          </a:solidFill>
                        </a:defRPr>
                      </a:pPr>
                      <a:r>
                        <a:t>Fouille artisanale dans des logs éparpillés</a:t>
                      </a:r>
                    </a:p>
                  </a:txBody>
                  <a:tcPr>
                    <a:solidFill>
                      <a:srgbClr val="FFFFFF"/>
                    </a:solidFill>
                  </a:tcPr>
                </a:tc>
                <a:tc>
                  <a:txBody>
                    <a:bodyPr/>
                    <a:lstStyle/>
                    <a:p>
                      <a:pPr>
                        <a:defRPr sz="1000" b="0">
                          <a:solidFill>
                            <a:srgbClr val="1E293B"/>
                          </a:solidFill>
                        </a:defRPr>
                      </a:pPr>
                      <a:r>
                        <a:t>Traçabilité fine au niveau des colonnes et graphes OpenLineage</a:t>
                      </a:r>
                    </a:p>
                  </a:txBody>
                  <a:tcPr>
                    <a:solidFill>
                      <a:srgbClr val="FFFFFF"/>
                    </a:solidFill>
                  </a:tcPr>
                </a:tc>
                <a:tc>
                  <a:txBody>
                    <a:bodyPr/>
                    <a:lstStyle/>
                    <a:p>
                      <a:pPr>
                        <a:defRPr sz="1000" b="0">
                          <a:solidFill>
                            <a:srgbClr val="1E293B"/>
                          </a:solidFill>
                        </a:defRPr>
                      </a:pPr>
                      <a:r>
                        <a:t>OpenLineage, Marquez, DataHub</a:t>
                      </a:r>
                    </a:p>
                  </a:txBody>
                  <a:tcPr>
                    <a:solidFill>
                      <a:srgbClr val="FFFFFF"/>
                    </a:solidFill>
                  </a:tcPr>
                </a:tc>
              </a:tr>
              <a:tr h="731520">
                <a:tc>
                  <a:txBody>
                    <a:bodyPr/>
                    <a:lstStyle/>
                    <a:p>
                      <a:pPr>
                        <a:defRPr sz="1000" b="1">
                          <a:solidFill>
                            <a:srgbClr val="1E293B"/>
                          </a:solidFill>
                        </a:defRPr>
                      </a:pPr>
                      <a:r>
                        <a:t>Politique de Réessai</a:t>
                      </a:r>
                    </a:p>
                  </a:txBody>
                  <a:tcPr>
                    <a:solidFill>
                      <a:srgbClr val="F1F5F9"/>
                    </a:solidFill>
                  </a:tcPr>
                </a:tc>
                <a:tc>
                  <a:txBody>
                    <a:bodyPr/>
                    <a:lstStyle/>
                    <a:p>
                      <a:pPr>
                        <a:defRPr sz="1000" b="0">
                          <a:solidFill>
                            <a:srgbClr val="1E293B"/>
                          </a:solidFill>
                        </a:defRPr>
                      </a:pPr>
                      <a:r>
                        <a:t>Réessais immédiats à intervalles fixes</a:t>
                      </a:r>
                    </a:p>
                  </a:txBody>
                  <a:tcPr>
                    <a:solidFill>
                      <a:srgbClr val="F1F5F9"/>
                    </a:solidFill>
                  </a:tcPr>
                </a:tc>
                <a:tc>
                  <a:txBody>
                    <a:bodyPr/>
                    <a:lstStyle/>
                    <a:p>
                      <a:pPr>
                        <a:defRPr sz="1000" b="0">
                          <a:solidFill>
                            <a:srgbClr val="1E293B"/>
                          </a:solidFill>
                        </a:defRPr>
                      </a:pPr>
                      <a:r>
                        <a:t>Décroissance exponentielle avec gigue + merge idempotent + DLQ</a:t>
                      </a:r>
                    </a:p>
                  </a:txBody>
                  <a:tcPr>
                    <a:solidFill>
                      <a:srgbClr val="F1F5F9"/>
                    </a:solidFill>
                  </a:tcPr>
                </a:tc>
                <a:tc>
                  <a:txBody>
                    <a:bodyPr/>
                    <a:lstStyle/>
                    <a:p>
                      <a:pPr>
                        <a:defRPr sz="1000" b="0">
                          <a:solidFill>
                            <a:srgbClr val="1E293B"/>
                          </a:solidFill>
                        </a:defRPr>
                      </a:pPr>
                      <a:r>
                        <a:t>Backoff with Jitter, Lakehouse, DLQ</a:t>
                      </a:r>
                    </a:p>
                  </a:txBody>
                  <a:tcPr>
                    <a:solidFill>
                      <a:srgbClr val="F1F5F9"/>
                    </a:solidFill>
                  </a:tcPr>
                </a:tc>
              </a:tr>
              <a:tr h="731520">
                <a:tc>
                  <a:txBody>
                    <a:bodyPr/>
                    <a:lstStyle/>
                    <a:p>
                      <a:pPr>
                        <a:defRPr sz="1000" b="1">
                          <a:solidFill>
                            <a:srgbClr val="1E293B"/>
                          </a:solidFill>
                        </a:defRPr>
                      </a:pPr>
                      <a:r>
                        <a:t>Protection des Sorties</a:t>
                      </a:r>
                    </a:p>
                  </a:txBody>
                  <a:tcPr>
                    <a:solidFill>
                      <a:srgbClr val="FFFFFF"/>
                    </a:solidFill>
                  </a:tcPr>
                </a:tc>
                <a:tc>
                  <a:txBody>
                    <a:bodyPr/>
                    <a:lstStyle/>
                    <a:p>
                      <a:pPr>
                        <a:defRPr sz="1000" b="0">
                          <a:solidFill>
                            <a:srgbClr val="1E293B"/>
                          </a:solidFill>
                        </a:defRPr>
                      </a:pPr>
                      <a:r>
                        <a:t>Écritures directes dans les tables cibles</a:t>
                      </a:r>
                    </a:p>
                  </a:txBody>
                  <a:tcPr>
                    <a:solidFill>
                      <a:srgbClr val="FFFFFF"/>
                    </a:solidFill>
                  </a:tcPr>
                </a:tc>
                <a:tc>
                  <a:txBody>
                    <a:bodyPr/>
                    <a:lstStyle/>
                    <a:p>
                      <a:pPr>
                        <a:defRPr sz="1000" b="0">
                          <a:solidFill>
                            <a:srgbClr val="1E293B"/>
                          </a:solidFill>
                        </a:defRPr>
                      </a:pPr>
                      <a:r>
                        <a:t>Pattern Write-Audit-Publish atomique (branches de staging)</a:t>
                      </a:r>
                    </a:p>
                  </a:txBody>
                  <a:tcPr>
                    <a:solidFill>
                      <a:srgbClr val="FFFFFF"/>
                    </a:solidFill>
                  </a:tcPr>
                </a:tc>
                <a:tc>
                  <a:txBody>
                    <a:bodyPr/>
                    <a:lstStyle/>
                    <a:p>
                      <a:pPr>
                        <a:defRPr sz="1000" b="0">
                          <a:solidFill>
                            <a:srgbClr val="1E293B"/>
                          </a:solidFill>
                        </a:defRPr>
                      </a:pPr>
                      <a:r>
                        <a:t>Apache Iceberg, Delta Branches</a:t>
                      </a:r>
                    </a:p>
                  </a:txBody>
                  <a:tcPr>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10362895" cy="4754880"/>
          </a:xfrm>
          <a:prstGeom prst="rect">
            <a:avLst/>
          </a:prstGeom>
          <a:noFill/>
        </p:spPr>
        <p:txBody>
          <a:bodyPr wrap="square">
            <a:spAutoFit/>
          </a:bodyPr>
          <a:lstStyle/>
          <a:p>
            <a:pPr>
              <a:defRPr sz="2600" b="1">
                <a:solidFill>
                  <a:srgbClr val="FFFFFF"/>
                </a:solidFill>
              </a:defRPr>
            </a:pPr>
            <a:r>
              <a:t>Synthèse et Recommandations pour l'Ingénieur de Données</a:t>
            </a:r>
          </a:p>
          <a:p>
            <a:pPr>
              <a:spcBef>
                <a:spcPts val="1200"/>
              </a:spcBef>
              <a:defRPr sz="1200" b="1">
                <a:solidFill>
                  <a:srgbClr val="38BDF8"/>
                </a:solidFill>
              </a:defRPr>
            </a:pPr>
            <a:r>
              <a:t>1. La Fiabilité se Conçoit Dès le Départ (Reliability by Design) : </a:t>
            </a:r>
            <a:r>
              <a:rPr b="0">
                <a:solidFill>
                  <a:srgbClr val="E2E8F0"/>
                </a:solidFill>
              </a:rPr>
              <a:t>Concevoir chaque composant pour être rigoureusement idempotent et réexécutable sans effets de bord.</a:t>
            </a:r>
          </a:p>
          <a:p>
            <a:pPr>
              <a:spcBef>
                <a:spcPts val="1200"/>
              </a:spcBef>
              <a:defRPr sz="1200" b="1">
                <a:solidFill>
                  <a:srgbClr val="38BDF8"/>
                </a:solidFill>
              </a:defRPr>
            </a:pPr>
            <a:r>
              <a:t>2. Zéro Confiance envers les Sources (Zero-Trust Data) : </a:t>
            </a:r>
            <a:r>
              <a:rPr b="0">
                <a:solidFill>
                  <a:srgbClr val="E2E8F0"/>
                </a:solidFill>
              </a:rPr>
              <a:t>Postuler que toute donnée entrante est potentiellement corrompue et imposer des portes de validation à chaque palier.</a:t>
            </a:r>
          </a:p>
          <a:p>
            <a:pPr>
              <a:spcBef>
                <a:spcPts val="1200"/>
              </a:spcBef>
              <a:defRPr sz="1200" b="1">
                <a:solidFill>
                  <a:srgbClr val="38BDF8"/>
                </a:solidFill>
              </a:defRPr>
            </a:pPr>
            <a:r>
              <a:t>3. Le Lignage comme Citoyen de Premier Rang (First-Class Lineage) : </a:t>
            </a:r>
            <a:r>
              <a:rPr b="0">
                <a:solidFill>
                  <a:srgbClr val="E2E8F0"/>
                </a:solidFill>
              </a:rPr>
              <a:t>Intégrer OpenLineage dès la conception pour effondrer le MTTR de plusieurs heures à quelques secondes.</a:t>
            </a:r>
          </a:p>
          <a:p>
            <a:pPr>
              <a:spcBef>
                <a:spcPts val="1200"/>
              </a:spcBef>
              <a:defRPr sz="1200" b="1">
                <a:solidFill>
                  <a:srgbClr val="38BDF8"/>
                </a:solidFill>
              </a:defRPr>
            </a:pPr>
            <a:r>
              <a:t>4. Dompter les Politiques de Retries : </a:t>
            </a:r>
            <a:r>
              <a:rPr b="0">
                <a:solidFill>
                  <a:srgbClr val="E2E8F0"/>
                </a:solidFill>
              </a:rPr>
              <a:t>Éradiquer les réessais aveugles : privilégier le Full Jitter Backoff et isoler les anomalies dans des Dead Letter Queues.</a:t>
            </a:r>
          </a:p>
          <a:p>
            <a:pPr algn="ctr">
              <a:spcBef>
                <a:spcPts val="3000"/>
              </a:spcBef>
              <a:defRPr sz="1600" b="1">
                <a:solidFill>
                  <a:srgbClr val="FFFFFF"/>
                </a:solidFill>
              </a:defRPr>
            </a:pPr>
            <a:r>
              <a:t>Merci pour votre attention — Place aux questions et échanges (Session 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