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Bonjour Monsieur le Professeur, chers collègues.</a:t>
            </a:r>
          </a:p>
          <a:p>
            <a:r>
              <a:t>- Aujourd'hui, nous explorons en profondeur les 6 dimensions normatives de la qualité des données en environnement Big Data.</a:t>
            </a:r>
          </a:p>
          <a:p>
            <a:r>
              <a:t>- Nous verrons comment ces dimensions permettent de contrer la corruption silencieuse des données grâce à des tests automatisés et des architectures résilientes.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(2 min) :</a:t>
            </a:r>
          </a:p>
          <a:p>
            <a:r>
              <a:t>- Distinguer la surveillance de la machine (Datadog) de la surveillance de la donnée.</a:t>
            </a:r>
          </a:p>
          <a:p>
            <a:r>
              <a:t>- Le piège ultime : un job Spark qui se termine avec succès (code 0) mais dont le contenu produit est toxique.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(2 min) :</a:t>
            </a:r>
          </a:p>
          <a:p>
            <a:r>
              <a:t>- Présentation du framework global basé sur les standards internationaux DAMA et ISO 8000.</a:t>
            </a:r>
          </a:p>
          <a:p>
            <a:r>
              <a:t>- Les 6 branches : Complétude, Unicité, Validité, Cohérence, Précision et Fraîcheur.</a:t>
            </a:r>
          </a:p>
          <a:p>
            <a:r>
              <a:t>- Chaque dimension dispose d'un seuil métrique, d'une assertion automatisée, et prévient un risque d'entreprise spécifique.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La complétude est la première règle vérifiée dans tout pipeline.</a:t>
            </a:r>
          </a:p>
          <a:p>
            <a:r>
              <a:t>- En Big Data, un simple INNER JOIN sur une clé devenue NULL supprime silencieusement des millions d'enregistrements.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L'unicité est violée principalement par les réessais intempestifs.</a:t>
            </a:r>
          </a:p>
          <a:p>
            <a:r>
              <a:t>- Si un pipeline écrit deux fois la même facture, le chiffre d'affaires est virtuellement doublé.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La validité empêche les 'pilules empoisonnées' (Poison Pills) qui font crasher Spark.</a:t>
            </a:r>
          </a:p>
          <a:p>
            <a:r>
              <a:t>- Elle valide que la donnée respecte les règles du monde réel et de la syntaxe.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Dans les bases relationnelles, la base bloque les clés orphelines. Mais dans Spark ou S3, il n'y a pas de contrainte matérielle.</a:t>
            </a:r>
          </a:p>
          <a:p>
            <a:r>
              <a:t>- C'est pourquoi la cohérence doit être testée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Une donnée peut être valide (ex: un chiffre positif) mais complètement imprécise (ex: 1 million au lieu de 100).</a:t>
            </a:r>
          </a:p>
          <a:p>
            <a:r>
              <a:t>- La précision vérifie la conformité avec la réalité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</a:t>
            </a:r>
          </a:p>
          <a:p>
            <a:r>
              <a:t>- La fraîcheur répond à la question : 'Quand cette donnée a-t-elle été mise à jour ?'</a:t>
            </a:r>
          </a:p>
          <a:p>
            <a:r>
              <a:t>- Un connecteur Kafka qui n'émet plus de données ne lève pas d'erreur, mais la table gèle. La fraîcheur détecte cette anomalie silencieuse.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(2 min) :</a:t>
            </a:r>
          </a:p>
          <a:p>
            <a:r>
              <a:t>- Les 6 dimensions ne restent pas sur papier : elles sont intégrées au disjoncteur.</a:t>
            </a:r>
          </a:p>
          <a:p>
            <a:r>
              <a:t>- Ce schéma démontre comment une anomalie sur l'une des dimensions est dérivée en quarantaine sans contaminer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(2 min) :</a:t>
            </a:r>
          </a:p>
          <a:p>
            <a:r>
              <a:t>- Le pattern WAP est l'implémentation de production ultime pour les 6 dimensions.</a:t>
            </a:r>
          </a:p>
          <a:p>
            <a:r>
              <a:t>- Grâce aux tables Iceberg/Delta, l'audit se fait sur une branche éphémère sans impact sur les utilisateurs.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(1 min) :</a:t>
            </a:r>
          </a:p>
          <a:p>
            <a:r>
              <a:t>- Récapitulatif : la qualité de la donnée est la condition de base de la valeur en IA et BI.</a:t>
            </a:r>
          </a:p>
          <a:p>
            <a:r>
              <a:t>- Remerciements et ouverture des questions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09728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MASTER 2 DATA SCIENCE &amp; BIG DATA (2MDSP) — ISLAI BÉJA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Les 6 Dimensions Normatives de la Qualité des Données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Cadre Méthodologique DAMA &amp; ISO 8000 pour les Pipelines Big Data en Production</a:t>
            </a:r>
          </a:p>
          <a:p>
            <a:pPr>
              <a:spcBef>
                <a:spcPts val="2800"/>
              </a:spcBef>
              <a:defRPr sz="1300">
                <a:solidFill>
                  <a:srgbClr val="94A3B8"/>
                </a:solidFill>
              </a:defRPr>
            </a:pPr>
            <a:r>
              <a:t>Détection Automatisée de la Corruption Silencieuse, Assertions Métriques et Portes de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Problématique : L'Angle Mort et la Corruption Silencieuse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Pourquoi la surveillance traditionnelle d'infrastructure est-elle aveugle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Surveillance d'Infrastructure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Outils : Prometheus, Datadog, CloudWatch</a:t>
            </a:r>
            <a:br/>
            <a:br/>
            <a:r>
              <a:t>• Surveille : CPU, RAM, trafic réseau, Exit Codes.</a:t>
            </a:r>
            <a:br/>
            <a:r>
              <a:t>• Verdict : 'Le cluster Spark tourne à merveille, charge CPU optimale, Exit Code 0 !'</a:t>
            </a:r>
            <a:br/>
            <a:r>
              <a:t>• Angle mort : Totalement aveugle au contenu des colonnes et des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La Réalité Métier (Corruption Silencieuse)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Ce qui s'est réellement passé :</a:t>
            </a:r>
            <a:br/>
            <a:br/>
            <a:r>
              <a:t>• 80% des prix d'achats sont passés en valeurs négatives.</a:t>
            </a:r>
            <a:br/>
            <a:r>
              <a:t>• 50 000 transactions ont un user_id manquant (NULL).</a:t>
            </a:r>
            <a:br/>
            <a:r>
              <a:t>• Le format de date a muté de 'YYYY-MM-DD' vers 'DD/MM/YYYY'.</a:t>
            </a:r>
            <a:br/>
            <a:r>
              <a:t>• Impact : Les rapports financiers du DG sont faussés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8346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La Réponse : Data Quality Engineering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Normes DAMA &amp; ISO 8000</a:t>
            </a:r>
            <a:br/>
            <a:br/>
            <a:r>
              <a:t>• Traiter la donnée comme un produit avec des spécifications strictes.</a:t>
            </a:r>
            <a:br/>
            <a:r>
              <a:t>• Définir 6 dimensions observables mesurées par des assertions statistiques avant chaque écriture.</a:t>
            </a:r>
            <a:br/>
            <a:r>
              <a:t>• Intégrer des coupe-circuits automatiques.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Architecture Globale : Les 6 Dimensions Normatives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_quality_six_dimensions_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41" y="1554480"/>
            <a:ext cx="106904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1 : La Complétude (Completeness)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Proportion de données obligatoires effectivement présentes et non manquantes : Null Ratio ≤ ε.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Chute brutale des indicateurs de conversion, rupture de jointures internes (INNER JOIN), modèles ML rejetant les inférences.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Exemples Concrets : </a:t>
            </a:r>
            <a:r>
              <a:rPr b="0">
                <a:solidFill>
                  <a:srgbClr val="1E293B"/>
                </a:solidFill>
              </a:rPr>
              <a:t>Absence de l'identifiant client (customer_id), absence du montant de transaction, absence du code postal.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(Great Expectations) : </a:t>
            </a:r>
            <a:r>
              <a:rPr b="0">
                <a:solidFill>
                  <a:srgbClr val="1E293B"/>
                </a:solidFill>
              </a:rPr>
              <a:t>validator.expect_column_values_to_not_be_null(column='transaction_id')
validator.expect_column_null_ratio_to_be_between(column='discount', min_value=0.0, max_value=0.05)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FORMULE &amp; RÈGLE DE DÉCISION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Calcul du Taux de Valeurs Manquantes :</a:t>
            </a:r>
            <a:br/>
            <a:br/>
            <a:r>
              <a:t>Null_Ratio(A) = Count(rows where A is NULL) / Total_Rows</a:t>
            </a:r>
            <a:br/>
            <a:br/>
            <a:r>
              <a:t>Règle du Coupe-Circuit :</a:t>
            </a:r>
            <a:br/>
            <a:r>
              <a:t>SI Null_Ratio(A) &gt; Seuil_Critique (ex: 0.00%)</a:t>
            </a:r>
            <a:br/>
            <a:r>
              <a:t>ALORS Déclencher l'alerte et séquestrer le lot en Quarantaine (DLQ).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2 : L'Unicité (Uniqueness)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Chaque entité du monde réel n'est représentée qu'une et une seule fois : Distinct(Key) == Total_Rows.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Facturation double des clients, comptabilité financière erronée, explosion combinatoire des jointures (Cartesian Product), métriques gonflées artificiellement.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Causes Fréquentes : </a:t>
            </a:r>
            <a:r>
              <a:rPr b="0">
                <a:solidFill>
                  <a:srgbClr val="1E293B"/>
                </a:solidFill>
              </a:rPr>
              <a:t>Réessais non-idempotents (Retries sur INSERT), déduplication imparfaite sur Kafka (At-least-once semantics).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(Great Expectations) : </a:t>
            </a:r>
            <a:r>
              <a:rPr b="0">
                <a:solidFill>
                  <a:srgbClr val="1E293B"/>
                </a:solidFill>
              </a:rPr>
              <a:t>validator.expect_column_values_to_be_unique(column='order_id')
validator.expect_compound_columns_to_be_unique(column_list=['user_id', 'session_id'])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SOLUTION ARCHITECTURALE : L'IDEMPOTENCE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Pour garantir l'unicité face aux réessais réseau :</a:t>
            </a:r>
            <a:br/>
            <a:br/>
            <a:r>
              <a:t>1. Remplacer l'INSERT brut par l'instruction atomique MERGE INTO (Upsert).</a:t>
            </a:r>
            <a:br/>
            <a:br/>
            <a:r>
              <a:t>2. Utiliser des clés d'idempotence (Idempotency Keys) générées au point d'ingestion.</a:t>
            </a:r>
            <a:br/>
            <a:br/>
            <a:r>
              <a:t>3. Déduplication par fenêtre temporelle dans Apache Spark Structured Streaming.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3 : La Validité (Validity)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Conformité de la donnée aux règles de domaine, formats syntactiques et plages de valeurs autorisées.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Crash du pipeline lors des conversions de type (int('bad_val')), crash de l'application cliente, non-conformité RGPD.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Exemples Concrets : </a:t>
            </a:r>
            <a:r>
              <a:rPr b="0">
                <a:solidFill>
                  <a:srgbClr val="1E293B"/>
                </a:solidFill>
              </a:rPr>
              <a:t>Montant d'achat négatif (-150 €), adresse email ne contenant pas d'@', code pays ISO inexistant (ex: 'ZZ'), âge supérieur à 150 ans.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(Great Expectations) : </a:t>
            </a:r>
            <a:r>
              <a:rPr b="0">
                <a:solidFill>
                  <a:srgbClr val="1E293B"/>
                </a:solidFill>
              </a:rPr>
              <a:t>validator.expect_column_values_to_be_between(
    column='transaction_amount', min_value=0.01, max_value=1000000.00
)
validator.expect_column_values_to_match_regex(
    column='email', regex=r'^[^@]+@[^@]+\.[^@]+$'
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TYPOLOGIE DES CONTRÔLES DE VALIDITÉ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1. Contrôle de Type &amp; Format : respect de la structure (Date ISO 8601, JSON valide).</a:t>
            </a:r>
            <a:br/>
            <a:br/>
            <a:r>
              <a:t>2. Contrôle de Domaine / Énumération : valeur ∈ { 'PENDING', 'PAID', 'CANCELLED' }.</a:t>
            </a:r>
            <a:br/>
            <a:br/>
            <a:r>
              <a:t>3. Contrôle de Bornes : min &lt;= x &lt;= max.</a:t>
            </a:r>
            <a:br/>
            <a:br/>
            <a:r>
              <a:t>4. Contrôle d'Expression Régulière (Regex) : numéros de téléphone, IBAN, cartes bancaires.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4 : La Cohérence (Consistency)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Absence de contradiction entre des données enregistrées dans des tables ou systèmes différents : Concordance Inter-Systèmes = 100%.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Lignes orphelines (ex: commande faisant référence à un client inexistant), divergence entre le stock physique et le solde comptable, rapports incohérents entre départements.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Exemples Concrets : </a:t>
            </a:r>
            <a:r>
              <a:rPr b="0">
                <a:solidFill>
                  <a:srgbClr val="1E293B"/>
                </a:solidFill>
              </a:rPr>
              <a:t>L'agrégation des ventes journalières dans la table Gold ne correspond pas à la somme des lignes individuelles de la table Silver.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(dbt / Soda Core) : </a:t>
            </a:r>
            <a:r>
              <a:rPr b="0">
                <a:solidFill>
                  <a:srgbClr val="1E293B"/>
                </a:solidFill>
              </a:rPr>
              <a:t>dbt test: relationships (from order_items.order_id to orders.id)
Soda: row_count delta between source_db and lakehouse ==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RÉCONCILIATION &amp; INTÉGRITÉ RÉFÉRENTIELLE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En Big Data distribué, les clés étrangères (Foreign Keys) ne sont pas vérifiées par le moteur de stockage pour des raisons de performance.</a:t>
            </a:r>
            <a:br/>
            <a:br/>
            <a:r>
              <a:t>Il incombe donc au Data Pipeline de mettre en place des tests de réconciliation croisée (Cross-System Reconciliation Tests) lors de chaque batch de calcul.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5 : La Précision (Accuracy)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Fidélité absolue avec laquelle la valeur enregistrée reflète l'état réel et exact de l'objet physique ou financier : Écart vs Vérité Terrain &lt; δ.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Pertes financières lors d'arrondis monétaires imprécis, erreurs de calibration de capteurs IoT, décalage d'un point décimal (10.0 au lieu de 1000).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Exemples Concrets : </a:t>
            </a:r>
            <a:r>
              <a:rPr b="0">
                <a:solidFill>
                  <a:srgbClr val="1E293B"/>
                </a:solidFill>
              </a:rPr>
              <a:t>Conversion de devises tronquée sans préserver les centimes, poids de colis enregistré à 0.00 kg.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(Great Expectations) : </a:t>
            </a:r>
            <a:r>
              <a:rPr b="0">
                <a:solidFill>
                  <a:srgbClr val="1E293B"/>
                </a:solidFill>
              </a:rPr>
              <a:t>validator.expect_column_mean_to_be_between(column='unit_price', min_value=45.0, max_value=55.0)
validator.expect_column_stdev_to_be_between(column='temp_celsius', min_value=1.5, max_value=3.5)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AUDITABILITÉ &amp; CONTRÔLE STATISTIQUE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La précision s'évalue souvent par rapport à une source de vérité certifiée (Golden Record) ou via des contrôles de distribution statistique :</a:t>
            </a:r>
            <a:br/>
            <a:br/>
            <a:r>
              <a:t>• Z-Score / IQR pour la détection de valeurs aberrantes.</a:t>
            </a:r>
            <a:br/>
            <a:r>
              <a:t>• Détection de dérive (Concept &amp; Data Drift) pour les modèles d'apprentissage automatique.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Dimension 6 : La Fraîcheur &amp; Ponctualité (Freshness / Timeliness)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Définition &amp; Exigences Métriques :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Définition Formelle : </a:t>
            </a:r>
            <a:r>
              <a:rPr b="0">
                <a:solidFill>
                  <a:srgbClr val="1E293B"/>
                </a:solidFill>
              </a:rPr>
              <a:t>Degré d'actualité de la donnée par rapport au moment présent : Latence = Now() - Max(Event_Timestamp) ≤ SLA.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Risques en Production : </a:t>
            </a:r>
            <a:r>
              <a:rPr b="0">
                <a:solidFill>
                  <a:srgbClr val="1E293B"/>
                </a:solidFill>
              </a:rPr>
              <a:t>Décisions stratégiques prises sur des données d'hier, alertes de fraude en retard, tableau de bord gelé sans que l'équipe ne le sache.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Causes Fréquentes : </a:t>
            </a:r>
            <a:r>
              <a:rPr b="0">
                <a:solidFill>
                  <a:srgbClr val="1E293B"/>
                </a:solidFill>
              </a:rPr>
              <a:t>Connecteur CDC bloqué sans lever d'exception, accumulation de retard (Lag) dans les partitions Kafka, pipeline nocturne qui traîne.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Assertion Pratique (Soda Core / Great Expectations) : </a:t>
            </a:r>
            <a:r>
              <a:rPr b="0">
                <a:solidFill>
                  <a:srgbClr val="1E293B"/>
                </a:solidFill>
              </a:rPr>
              <a:t>checks for orders:
  - freshness(order_timestamp) &lt; 2h
  - anomaly detection on row_count: warm_up 14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CONTRATS D'ENGAGEMENT (SLAs &amp; SLOs)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Un pipeline peut produire des données parfaites, mais s'il les livre à 14h alors que le marché ouvre à 9h, sa valeur est nulle.</a:t>
            </a:r>
            <a:br/>
            <a:br/>
            <a:r>
              <a:t>La fraîcheur mesure le delta temporel entre la survenance de l'événement et sa mise à disposition des consommateurs finaux.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Mise en Œuvre : Le Disjoncteur Automatisé (Data Circuit Breaker)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Comment transformer les 6 dimensions en actions concrètes ?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1. Ingestion Bronze : </a:t>
            </a:r>
            <a:r>
              <a:rPr b="0">
                <a:solidFill>
                  <a:srgbClr val="1E293B"/>
                </a:solidFill>
              </a:rPr>
              <a:t>Réception brute et calcul des métriques immédiates de volume.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2. Moteur d'Assertions (Silver) : </a:t>
            </a:r>
            <a:r>
              <a:rPr b="0">
                <a:solidFill>
                  <a:srgbClr val="1E293B"/>
                </a:solidFill>
              </a:rPr>
              <a:t>Exécution des tests programmés sur les 6 dimensions.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3. Porte de Décision (Quality Gate) : </a:t>
            </a:r>
            <a:r>
              <a:rPr b="0">
                <a:solidFill>
                  <a:srgbClr val="1E293B"/>
                </a:solidFill>
              </a:rPr>
              <a:t>Si 100% des tests critiques réussissent : promotion en Gold.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4. Déclenchement du Coupe-Circuit : </a:t>
            </a:r>
            <a:r>
              <a:rPr b="0">
                <a:solidFill>
                  <a:srgbClr val="1E293B"/>
                </a:solidFill>
              </a:rPr>
              <a:t>Si un test échoue : dérivation vers la Dead Letter Queue (DLQ), gel des rapports BI et alerte PagerDuty vers l'équipe d'astreinte.</a:t>
            </a:r>
          </a:p>
        </p:txBody>
      </p:sp>
      <p:pic>
        <p:nvPicPr>
          <p:cNvPr id="6" name="Picture 5" descr="automated_data_quality_circuit_br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54757"/>
            <a:ext cx="5943600" cy="2354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QUALITÉ DES DONNÉES — STANDARDS DAMA &amp; ISO 8000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t>Garantie Atomique : Le Pattern Write-Audit-Publish (WAP)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Zéro compromis : Zéro lecture sale en production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1. WRITE (Écriture Isolée) : </a:t>
            </a:r>
            <a:r>
              <a:rPr b="0">
                <a:solidFill>
                  <a:srgbClr val="1E293B"/>
                </a:solidFill>
              </a:rPr>
              <a:t>Spark écrit les données dans une branche de staging isolée dans Apache Iceberg sans toucher à main.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2. AUDIT (Audit Automatisé) : </a:t>
            </a:r>
            <a:r>
              <a:rPr b="0">
                <a:solidFill>
                  <a:srgbClr val="1E293B"/>
                </a:solidFill>
              </a:rPr>
              <a:t>Exécution des vérifications sur les 6 dimensions sur la branche temporaire.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3. PUBLISH (Publication Atomique) : </a:t>
            </a:r>
            <a:r>
              <a:rPr b="0">
                <a:solidFill>
                  <a:srgbClr val="1E293B"/>
                </a:solidFill>
              </a:rPr>
              <a:t>En cas de succès : permutation de pointeur en une milliseconde (Fast-Forward).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4. ABORT (Annulation Sécurisée) : </a:t>
            </a:r>
            <a:r>
              <a:rPr b="0">
                <a:solidFill>
                  <a:srgbClr val="1E293B"/>
                </a:solidFill>
              </a:rPr>
              <a:t>En cas d'échec : destruction de la branche éphémère. Les consommateurs ne voient jamais la corruption.</a:t>
            </a:r>
          </a:p>
        </p:txBody>
      </p:sp>
      <p:pic>
        <p:nvPicPr>
          <p:cNvPr id="6" name="Picture 5" descr="write_audit_publish_wap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62301"/>
            <a:ext cx="5943600" cy="2539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Synthèse &amp; Recommandations pour l'Ingénieur de Données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</a:defRPr>
            </a:pPr>
            <a:r>
              <a:t>1. La Qualité est un Contrat (Data Contracts) : </a:t>
            </a:r>
            <a:r>
              <a:rPr b="0">
                <a:solidFill>
                  <a:srgbClr val="E2E8F0"/>
                </a:solidFill>
              </a:rPr>
              <a:t>Définir formellement les 6 dimensions dans des contrats de données partagés entre producteurs et consommateurs.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</a:defRPr>
            </a:pPr>
            <a:r>
              <a:t>2. Automatisation Impérative : </a:t>
            </a:r>
            <a:r>
              <a:rPr b="0">
                <a:solidFill>
                  <a:srgbClr val="E2E8F0"/>
                </a:solidFill>
              </a:rPr>
              <a:t>Aucune donnée ne doit atteindre la couche Gold sans validation par un moteur déclaratif (Great Expectations, Soda).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</a:defRPr>
            </a:pPr>
            <a:r>
              <a:t>3. Isolation plutôt que Blocage : </a:t>
            </a:r>
            <a:r>
              <a:rPr b="0">
                <a:solidFill>
                  <a:srgbClr val="E2E8F0"/>
                </a:solidFill>
              </a:rPr>
              <a:t>Adopter les coupe-circuits et les Dead Letter Queues pour préserver la continuité de service des données saines.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</a:defRPr>
            </a:pPr>
            <a:r>
              <a:t>4. Traçabilité par le Lignage : </a:t>
            </a:r>
            <a:r>
              <a:rPr b="0">
                <a:solidFill>
                  <a:srgbClr val="E2E8F0"/>
                </a:solidFill>
              </a:rPr>
              <a:t>Associer les contrôles de qualité à OpenLineage pour identifier la cause racine en cas de rejet.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FFFFFF"/>
                </a:solidFill>
              </a:defRPr>
            </a:pPr>
            <a:r>
              <a:t>Merci pour votre attention — Place aux questions (Session 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